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slideLayout" Target="../slideLayouts/slideLayout1.xml"/><Relationship Id="rId2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1B3A5C"/>
          </a:solidFill>
          <a:ln/>
        </p:spPr>
      </p:sp>
      <p:sp>
        <p:nvSpPr>
          <p:cNvPr id="3" name="Shape 1"/>
          <p:cNvSpPr/>
          <p:nvPr/>
        </p:nvSpPr>
        <p:spPr>
          <a:xfrm>
            <a:off x="3840480" y="0"/>
            <a:ext cx="73152" cy="5143500"/>
          </a:xfrm>
          <a:prstGeom prst="rect">
            <a:avLst/>
          </a:prstGeom>
          <a:solidFill>
            <a:srgbClr val="2E74B5"/>
          </a:solidFill>
          <a:ln/>
        </p:spPr>
      </p:sp>
      <p:pic>
        <p:nvPicPr>
          <p:cNvPr id="4" name="Image 0" descr="preencoded.png">    </p:cNvPr>
          <p:cNvPicPr>
            <a:picLocks noChangeAspect="1"/>
          </p:cNvPicPr>
          <p:nvPr/>
        </p:nvPicPr>
        <p:blipFill>
          <a:blip r:embed="rId1"/>
          <a:stretch>
            <a:fillRect/>
          </a:stretch>
        </p:blipFill>
        <p:spPr>
          <a:xfrm>
            <a:off x="411480" y="411480"/>
            <a:ext cx="640080" cy="640080"/>
          </a:xfrm>
          <a:prstGeom prst="rect">
            <a:avLst/>
          </a:prstGeom>
        </p:spPr>
      </p:pic>
      <p:sp>
        <p:nvSpPr>
          <p:cNvPr id="5" name="Text 2"/>
          <p:cNvSpPr/>
          <p:nvPr/>
        </p:nvSpPr>
        <p:spPr>
          <a:xfrm>
            <a:off x="365760" y="411480"/>
            <a:ext cx="3291840" cy="640080"/>
          </a:xfrm>
          <a:prstGeom prst="rect">
            <a:avLst/>
          </a:prstGeom>
          <a:noFill/>
          <a:ln/>
        </p:spPr>
        <p:txBody>
          <a:bodyPr wrap="square" rtlCol="0" anchor="ctr"/>
          <a:lstStyle/>
          <a:p>
            <a:pPr algn="r" indent="0" marL="0">
              <a:buNone/>
            </a:pPr>
            <a:r>
              <a:rPr lang="en-US" sz="1000" b="1" spc="300" kern="0" dirty="0">
                <a:solidFill>
                  <a:srgbClr val="7AA8CC"/>
                </a:solidFill>
                <a:latin typeface="Calibri" pitchFamily="34" charset="0"/>
                <a:ea typeface="Calibri" pitchFamily="34" charset="-122"/>
                <a:cs typeface="Calibri" pitchFamily="34" charset="-120"/>
              </a:rPr>
              <a:t>PROJET 2</a:t>
            </a:r>
            <a:endParaRPr lang="en-US" sz="1000" dirty="0"/>
          </a:p>
        </p:txBody>
      </p:sp>
      <p:sp>
        <p:nvSpPr>
          <p:cNvPr id="6" name="Text 3"/>
          <p:cNvSpPr/>
          <p:nvPr/>
        </p:nvSpPr>
        <p:spPr>
          <a:xfrm>
            <a:off x="320040" y="1188720"/>
            <a:ext cx="3337560" cy="228600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Plateforme</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Éducative</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Intelligente</a:t>
            </a:r>
            <a:endParaRPr lang="en-US" sz="3400" dirty="0"/>
          </a:p>
        </p:txBody>
      </p:sp>
      <p:sp>
        <p:nvSpPr>
          <p:cNvPr id="7" name="Shape 4"/>
          <p:cNvSpPr/>
          <p:nvPr/>
        </p:nvSpPr>
        <p:spPr>
          <a:xfrm>
            <a:off x="365760" y="3547872"/>
            <a:ext cx="2560320" cy="45720"/>
          </a:xfrm>
          <a:prstGeom prst="rect">
            <a:avLst/>
          </a:prstGeom>
          <a:solidFill>
            <a:srgbClr val="2E74B5"/>
          </a:solidFill>
          <a:ln/>
        </p:spPr>
      </p:sp>
      <p:sp>
        <p:nvSpPr>
          <p:cNvPr id="8" name="Text 5"/>
          <p:cNvSpPr/>
          <p:nvPr/>
        </p:nvSpPr>
        <p:spPr>
          <a:xfrm>
            <a:off x="347472" y="3657600"/>
            <a:ext cx="3383280" cy="731520"/>
          </a:xfrm>
          <a:prstGeom prst="rect">
            <a:avLst/>
          </a:prstGeom>
          <a:noFill/>
          <a:ln/>
        </p:spPr>
        <p:txBody>
          <a:bodyPr wrap="square" rtlCol="0" anchor="ctr"/>
          <a:lstStyle/>
          <a:p>
            <a:pPr indent="0" marL="0">
              <a:buNone/>
            </a:pPr>
            <a:r>
              <a:rPr lang="en-US" sz="1300" dirty="0">
                <a:solidFill>
                  <a:srgbClr val="B0C4D8"/>
                </a:solidFill>
                <a:latin typeface="Calibri" pitchFamily="34" charset="0"/>
                <a:ea typeface="Calibri" pitchFamily="34" charset="-122"/>
                <a:cs typeface="Calibri" pitchFamily="34" charset="-120"/>
              </a:rPr>
              <a:t>Recommandations d'apprentissage</a:t>
            </a:r>
            <a:endParaRPr lang="en-US" sz="1300" dirty="0"/>
          </a:p>
          <a:p>
            <a:pPr indent="0" marL="0">
              <a:buNone/>
            </a:pPr>
            <a:r>
              <a:rPr lang="en-US" sz="1300" dirty="0">
                <a:solidFill>
                  <a:srgbClr val="B0C4D8"/>
                </a:solidFill>
                <a:latin typeface="Calibri" pitchFamily="34" charset="0"/>
                <a:ea typeface="Calibri" pitchFamily="34" charset="-122"/>
                <a:cs typeface="Calibri" pitchFamily="34" charset="-120"/>
              </a:rPr>
              <a:t>personnalisées par l'IA</a:t>
            </a:r>
            <a:endParaRPr lang="en-US" sz="1300" dirty="0"/>
          </a:p>
        </p:txBody>
      </p:sp>
      <p:sp>
        <p:nvSpPr>
          <p:cNvPr id="9" name="Text 6"/>
          <p:cNvSpPr/>
          <p:nvPr/>
        </p:nvSpPr>
        <p:spPr>
          <a:xfrm>
            <a:off x="4206240" y="502920"/>
            <a:ext cx="4663440" cy="411480"/>
          </a:xfrm>
          <a:prstGeom prst="rect">
            <a:avLst/>
          </a:prstGeom>
          <a:noFill/>
          <a:ln/>
        </p:spPr>
        <p:txBody>
          <a:bodyPr wrap="square"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À propos du projet</a:t>
            </a:r>
            <a:endParaRPr lang="en-US" sz="1400" dirty="0"/>
          </a:p>
        </p:txBody>
      </p:sp>
      <p:sp>
        <p:nvSpPr>
          <p:cNvPr id="10" name="Shape 7"/>
          <p:cNvSpPr/>
          <p:nvPr/>
        </p:nvSpPr>
        <p:spPr>
          <a:xfrm>
            <a:off x="4206240" y="896112"/>
            <a:ext cx="4663440" cy="36576"/>
          </a:xfrm>
          <a:prstGeom prst="rect">
            <a:avLst/>
          </a:prstGeom>
          <a:solidFill>
            <a:srgbClr val="E2E8F0"/>
          </a:solidFill>
          <a:ln/>
        </p:spPr>
      </p:sp>
      <p:sp>
        <p:nvSpPr>
          <p:cNvPr id="11" name="Text 8"/>
          <p:cNvSpPr/>
          <p:nvPr/>
        </p:nvSpPr>
        <p:spPr>
          <a:xfrm>
            <a:off x="4206240" y="1005840"/>
            <a:ext cx="4663440" cy="128016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Une application web et mobile qui propose des parcours d'apprentissage personnalisés pour les étudiants, en fonction de leur niveau, de leurs compétences et de leur progression. L'IA recommande des ressources pédagogiques adaptées : vidéos, articles, exercices et cours.</a:t>
            </a:r>
            <a:endParaRPr lang="en-US" sz="1200" dirty="0"/>
          </a:p>
        </p:txBody>
      </p:sp>
      <p:sp>
        <p:nvSpPr>
          <p:cNvPr id="12" name="Shape 9"/>
          <p:cNvSpPr/>
          <p:nvPr/>
        </p:nvSpPr>
        <p:spPr>
          <a:xfrm>
            <a:off x="4206240" y="2450592"/>
            <a:ext cx="1444752" cy="914400"/>
          </a:xfrm>
          <a:prstGeom prst="rect">
            <a:avLst/>
          </a:prstGeom>
          <a:solidFill>
            <a:srgbClr val="F0F3F7"/>
          </a:solidFill>
          <a:ln/>
          <a:effectLst>
            <a:outerShdw sx="100000" sy="100000" kx="0" ky="0" algn="bl" rotWithShape="0" blurRad="76200" dist="25400" dir="8100000">
              <a:srgbClr val="000000">
                <a:alpha val="8000"/>
              </a:srgbClr>
            </a:outerShdw>
          </a:effectLst>
        </p:spPr>
      </p:sp>
      <p:sp>
        <p:nvSpPr>
          <p:cNvPr id="13" name="Shape 10"/>
          <p:cNvSpPr/>
          <p:nvPr/>
        </p:nvSpPr>
        <p:spPr>
          <a:xfrm>
            <a:off x="4206240" y="2450592"/>
            <a:ext cx="1444752" cy="45720"/>
          </a:xfrm>
          <a:prstGeom prst="rect">
            <a:avLst/>
          </a:prstGeom>
          <a:solidFill>
            <a:srgbClr val="2E74B5"/>
          </a:solidFill>
          <a:ln/>
        </p:spPr>
      </p:sp>
      <p:pic>
        <p:nvPicPr>
          <p:cNvPr id="14" name="Image 1" descr="preencoded.png">    </p:cNvPr>
          <p:cNvPicPr>
            <a:picLocks noChangeAspect="1"/>
          </p:cNvPicPr>
          <p:nvPr/>
        </p:nvPicPr>
        <p:blipFill>
          <a:blip r:embed="rId2"/>
          <a:stretch>
            <a:fillRect/>
          </a:stretch>
        </p:blipFill>
        <p:spPr>
          <a:xfrm>
            <a:off x="4315968" y="2560320"/>
            <a:ext cx="329184" cy="329184"/>
          </a:xfrm>
          <a:prstGeom prst="rect">
            <a:avLst/>
          </a:prstGeom>
        </p:spPr>
      </p:pic>
      <p:sp>
        <p:nvSpPr>
          <p:cNvPr id="15" name="Text 11"/>
          <p:cNvSpPr/>
          <p:nvPr/>
        </p:nvSpPr>
        <p:spPr>
          <a:xfrm>
            <a:off x="4709160" y="2505456"/>
            <a:ext cx="868680" cy="457200"/>
          </a:xfrm>
          <a:prstGeom prst="rect">
            <a:avLst/>
          </a:prstGeom>
          <a:noFill/>
          <a:ln/>
        </p:spPr>
        <p:txBody>
          <a:bodyPr wrap="square" rtlCol="0" anchor="ctr"/>
          <a:lstStyle/>
          <a:p>
            <a:pPr indent="0" marL="0">
              <a:buNone/>
            </a:pPr>
            <a:r>
              <a:rPr lang="en-US" sz="2600" b="1" dirty="0">
                <a:solidFill>
                  <a:srgbClr val="1B3A5C"/>
                </a:solidFill>
                <a:latin typeface="Calibri" pitchFamily="34" charset="0"/>
                <a:ea typeface="Calibri" pitchFamily="34" charset="-122"/>
                <a:cs typeface="Calibri" pitchFamily="34" charset="-120"/>
              </a:rPr>
              <a:t>6</a:t>
            </a:r>
            <a:endParaRPr lang="en-US" sz="2600" dirty="0"/>
          </a:p>
        </p:txBody>
      </p:sp>
      <p:sp>
        <p:nvSpPr>
          <p:cNvPr id="16" name="Text 12"/>
          <p:cNvSpPr/>
          <p:nvPr/>
        </p:nvSpPr>
        <p:spPr>
          <a:xfrm>
            <a:off x="4279392" y="2980944"/>
            <a:ext cx="1298448" cy="292608"/>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Semaines</a:t>
            </a:r>
            <a:endParaRPr lang="en-US" sz="950" dirty="0"/>
          </a:p>
        </p:txBody>
      </p:sp>
      <p:sp>
        <p:nvSpPr>
          <p:cNvPr id="17" name="Shape 13"/>
          <p:cNvSpPr/>
          <p:nvPr/>
        </p:nvSpPr>
        <p:spPr>
          <a:xfrm>
            <a:off x="5806440" y="2450592"/>
            <a:ext cx="1444752" cy="914400"/>
          </a:xfrm>
          <a:prstGeom prst="rect">
            <a:avLst/>
          </a:prstGeom>
          <a:solidFill>
            <a:srgbClr val="F0F3F7"/>
          </a:solidFill>
          <a:ln/>
          <a:effectLst>
            <a:outerShdw sx="100000" sy="100000" kx="0" ky="0" algn="bl" rotWithShape="0" blurRad="76200" dist="25400" dir="8100000">
              <a:srgbClr val="000000">
                <a:alpha val="8000"/>
              </a:srgbClr>
            </a:outerShdw>
          </a:effectLst>
        </p:spPr>
      </p:sp>
      <p:sp>
        <p:nvSpPr>
          <p:cNvPr id="18" name="Shape 14"/>
          <p:cNvSpPr/>
          <p:nvPr/>
        </p:nvSpPr>
        <p:spPr>
          <a:xfrm>
            <a:off x="5806440" y="2450592"/>
            <a:ext cx="1444752" cy="45720"/>
          </a:xfrm>
          <a:prstGeom prst="rect">
            <a:avLst/>
          </a:prstGeom>
          <a:solidFill>
            <a:srgbClr val="2E74B5"/>
          </a:solidFill>
          <a:ln/>
        </p:spPr>
      </p:sp>
      <p:pic>
        <p:nvPicPr>
          <p:cNvPr id="19" name="Image 2" descr="preencoded.png">    </p:cNvPr>
          <p:cNvPicPr>
            <a:picLocks noChangeAspect="1"/>
          </p:cNvPicPr>
          <p:nvPr/>
        </p:nvPicPr>
        <p:blipFill>
          <a:blip r:embed="rId3"/>
          <a:stretch>
            <a:fillRect/>
          </a:stretch>
        </p:blipFill>
        <p:spPr>
          <a:xfrm>
            <a:off x="5916168" y="2560320"/>
            <a:ext cx="329184" cy="329184"/>
          </a:xfrm>
          <a:prstGeom prst="rect">
            <a:avLst/>
          </a:prstGeom>
        </p:spPr>
      </p:pic>
      <p:sp>
        <p:nvSpPr>
          <p:cNvPr id="20" name="Text 15"/>
          <p:cNvSpPr/>
          <p:nvPr/>
        </p:nvSpPr>
        <p:spPr>
          <a:xfrm>
            <a:off x="6309360" y="2505456"/>
            <a:ext cx="868680" cy="457200"/>
          </a:xfrm>
          <a:prstGeom prst="rect">
            <a:avLst/>
          </a:prstGeom>
          <a:noFill/>
          <a:ln/>
        </p:spPr>
        <p:txBody>
          <a:bodyPr wrap="square" rtlCol="0" anchor="ctr"/>
          <a:lstStyle/>
          <a:p>
            <a:pPr indent="0" marL="0">
              <a:buNone/>
            </a:pPr>
            <a:r>
              <a:rPr lang="en-US" sz="2600" b="1" dirty="0">
                <a:solidFill>
                  <a:srgbClr val="1B3A5C"/>
                </a:solidFill>
                <a:latin typeface="Calibri" pitchFamily="34" charset="0"/>
                <a:ea typeface="Calibri" pitchFamily="34" charset="-122"/>
                <a:cs typeface="Calibri" pitchFamily="34" charset="-120"/>
              </a:rPr>
              <a:t>4</a:t>
            </a:r>
            <a:endParaRPr lang="en-US" sz="2600" dirty="0"/>
          </a:p>
        </p:txBody>
      </p:sp>
      <p:sp>
        <p:nvSpPr>
          <p:cNvPr id="21" name="Text 16"/>
          <p:cNvSpPr/>
          <p:nvPr/>
        </p:nvSpPr>
        <p:spPr>
          <a:xfrm>
            <a:off x="5879592" y="2980944"/>
            <a:ext cx="1298448" cy="292608"/>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Microservices</a:t>
            </a:r>
            <a:endParaRPr lang="en-US" sz="950" dirty="0"/>
          </a:p>
        </p:txBody>
      </p:sp>
      <p:sp>
        <p:nvSpPr>
          <p:cNvPr id="22" name="Shape 17"/>
          <p:cNvSpPr/>
          <p:nvPr/>
        </p:nvSpPr>
        <p:spPr>
          <a:xfrm>
            <a:off x="7406640" y="2450592"/>
            <a:ext cx="1444752" cy="914400"/>
          </a:xfrm>
          <a:prstGeom prst="rect">
            <a:avLst/>
          </a:prstGeom>
          <a:solidFill>
            <a:srgbClr val="F0F3F7"/>
          </a:solidFill>
          <a:ln/>
          <a:effectLst>
            <a:outerShdw sx="100000" sy="100000" kx="0" ky="0" algn="bl" rotWithShape="0" blurRad="76200" dist="25400" dir="8100000">
              <a:srgbClr val="000000">
                <a:alpha val="8000"/>
              </a:srgbClr>
            </a:outerShdw>
          </a:effectLst>
        </p:spPr>
      </p:sp>
      <p:sp>
        <p:nvSpPr>
          <p:cNvPr id="23" name="Shape 18"/>
          <p:cNvSpPr/>
          <p:nvPr/>
        </p:nvSpPr>
        <p:spPr>
          <a:xfrm>
            <a:off x="7406640" y="2450592"/>
            <a:ext cx="1444752" cy="45720"/>
          </a:xfrm>
          <a:prstGeom prst="rect">
            <a:avLst/>
          </a:prstGeom>
          <a:solidFill>
            <a:srgbClr val="2E74B5"/>
          </a:solidFill>
          <a:ln/>
        </p:spPr>
      </p:sp>
      <p:pic>
        <p:nvPicPr>
          <p:cNvPr id="24" name="Image 3" descr="preencoded.png">    </p:cNvPr>
          <p:cNvPicPr>
            <a:picLocks noChangeAspect="1"/>
          </p:cNvPicPr>
          <p:nvPr/>
        </p:nvPicPr>
        <p:blipFill>
          <a:blip r:embed="rId4"/>
          <a:stretch>
            <a:fillRect/>
          </a:stretch>
        </p:blipFill>
        <p:spPr>
          <a:xfrm>
            <a:off x="7516368" y="2560320"/>
            <a:ext cx="329184" cy="329184"/>
          </a:xfrm>
          <a:prstGeom prst="rect">
            <a:avLst/>
          </a:prstGeom>
        </p:spPr>
      </p:pic>
      <p:sp>
        <p:nvSpPr>
          <p:cNvPr id="25" name="Text 19"/>
          <p:cNvSpPr/>
          <p:nvPr/>
        </p:nvSpPr>
        <p:spPr>
          <a:xfrm>
            <a:off x="7909560" y="2505456"/>
            <a:ext cx="868680" cy="457200"/>
          </a:xfrm>
          <a:prstGeom prst="rect">
            <a:avLst/>
          </a:prstGeom>
          <a:noFill/>
          <a:ln/>
        </p:spPr>
        <p:txBody>
          <a:bodyPr wrap="square" rtlCol="0" anchor="ctr"/>
          <a:lstStyle/>
          <a:p>
            <a:pPr indent="0" marL="0">
              <a:buNone/>
            </a:pPr>
            <a:r>
              <a:rPr lang="en-US" sz="2600" b="1" dirty="0">
                <a:solidFill>
                  <a:srgbClr val="1B3A5C"/>
                </a:solidFill>
                <a:latin typeface="Calibri" pitchFamily="34" charset="0"/>
                <a:ea typeface="Calibri" pitchFamily="34" charset="-122"/>
                <a:cs typeface="Calibri" pitchFamily="34" charset="-120"/>
              </a:rPr>
              <a:t>IA</a:t>
            </a:r>
            <a:endParaRPr lang="en-US" sz="2600" dirty="0"/>
          </a:p>
        </p:txBody>
      </p:sp>
      <p:sp>
        <p:nvSpPr>
          <p:cNvPr id="26" name="Text 20"/>
          <p:cNvSpPr/>
          <p:nvPr/>
        </p:nvSpPr>
        <p:spPr>
          <a:xfrm>
            <a:off x="7479792" y="2980944"/>
            <a:ext cx="1298448" cy="292608"/>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Moteur IA/ML</a:t>
            </a:r>
            <a:endParaRPr lang="en-US" sz="950" dirty="0"/>
          </a:p>
        </p:txBody>
      </p:sp>
      <p:sp>
        <p:nvSpPr>
          <p:cNvPr id="27" name="Text 21"/>
          <p:cNvSpPr/>
          <p:nvPr/>
        </p:nvSpPr>
        <p:spPr>
          <a:xfrm>
            <a:off x="4206240" y="3520440"/>
            <a:ext cx="4663440" cy="274320"/>
          </a:xfrm>
          <a:prstGeom prst="rect">
            <a:avLst/>
          </a:prstGeom>
          <a:noFill/>
          <a:ln/>
        </p:spPr>
        <p:txBody>
          <a:bodyPr wrap="square"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Technologies principales :</a:t>
            </a:r>
            <a:endParaRPr lang="en-US" sz="1100" dirty="0"/>
          </a:p>
        </p:txBody>
      </p:sp>
      <p:sp>
        <p:nvSpPr>
          <p:cNvPr id="28" name="Shape 22"/>
          <p:cNvSpPr/>
          <p:nvPr/>
        </p:nvSpPr>
        <p:spPr>
          <a:xfrm>
            <a:off x="4206240" y="3840480"/>
            <a:ext cx="1481328" cy="256032"/>
          </a:xfrm>
          <a:prstGeom prst="rect">
            <a:avLst/>
          </a:prstGeom>
          <a:solidFill>
            <a:srgbClr val="F0F3F7"/>
          </a:solidFill>
          <a:ln/>
        </p:spPr>
      </p:sp>
      <p:sp>
        <p:nvSpPr>
          <p:cNvPr id="29" name="Text 23"/>
          <p:cNvSpPr/>
          <p:nvPr/>
        </p:nvSpPr>
        <p:spPr>
          <a:xfrm>
            <a:off x="4224528" y="3849624"/>
            <a:ext cx="1444752" cy="237744"/>
          </a:xfrm>
          <a:prstGeom prst="rect">
            <a:avLst/>
          </a:prstGeom>
          <a:noFill/>
          <a:ln/>
        </p:spPr>
        <p:txBody>
          <a:bodyPr wrap="square"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React.js / React Native</a:t>
            </a:r>
            <a:endParaRPr lang="en-US" sz="850" dirty="0"/>
          </a:p>
        </p:txBody>
      </p:sp>
      <p:sp>
        <p:nvSpPr>
          <p:cNvPr id="30" name="Shape 24"/>
          <p:cNvSpPr/>
          <p:nvPr/>
        </p:nvSpPr>
        <p:spPr>
          <a:xfrm>
            <a:off x="5788152" y="3840480"/>
            <a:ext cx="1481328" cy="256032"/>
          </a:xfrm>
          <a:prstGeom prst="rect">
            <a:avLst/>
          </a:prstGeom>
          <a:solidFill>
            <a:srgbClr val="F0F3F7"/>
          </a:solidFill>
          <a:ln/>
        </p:spPr>
      </p:sp>
      <p:sp>
        <p:nvSpPr>
          <p:cNvPr id="31" name="Text 25"/>
          <p:cNvSpPr/>
          <p:nvPr/>
        </p:nvSpPr>
        <p:spPr>
          <a:xfrm>
            <a:off x="5806440" y="3849624"/>
            <a:ext cx="1444752" cy="237744"/>
          </a:xfrm>
          <a:prstGeom prst="rect">
            <a:avLst/>
          </a:prstGeom>
          <a:noFill/>
          <a:ln/>
        </p:spPr>
        <p:txBody>
          <a:bodyPr wrap="square"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Python FastAPI</a:t>
            </a:r>
            <a:endParaRPr lang="en-US" sz="850" dirty="0"/>
          </a:p>
        </p:txBody>
      </p:sp>
      <p:sp>
        <p:nvSpPr>
          <p:cNvPr id="32" name="Shape 26"/>
          <p:cNvSpPr/>
          <p:nvPr/>
        </p:nvSpPr>
        <p:spPr>
          <a:xfrm>
            <a:off x="7370064" y="3840480"/>
            <a:ext cx="1481328" cy="256032"/>
          </a:xfrm>
          <a:prstGeom prst="rect">
            <a:avLst/>
          </a:prstGeom>
          <a:solidFill>
            <a:srgbClr val="F0F3F7"/>
          </a:solidFill>
          <a:ln/>
        </p:spPr>
      </p:sp>
      <p:sp>
        <p:nvSpPr>
          <p:cNvPr id="33" name="Text 27"/>
          <p:cNvSpPr/>
          <p:nvPr/>
        </p:nvSpPr>
        <p:spPr>
          <a:xfrm>
            <a:off x="7388352" y="3849624"/>
            <a:ext cx="1444752" cy="237744"/>
          </a:xfrm>
          <a:prstGeom prst="rect">
            <a:avLst/>
          </a:prstGeom>
          <a:noFill/>
          <a:ln/>
        </p:spPr>
        <p:txBody>
          <a:bodyPr wrap="square"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PostgreSQL + MongoDB</a:t>
            </a:r>
            <a:endParaRPr lang="en-US" sz="850" dirty="0"/>
          </a:p>
        </p:txBody>
      </p:sp>
      <p:sp>
        <p:nvSpPr>
          <p:cNvPr id="34" name="Shape 28"/>
          <p:cNvSpPr/>
          <p:nvPr/>
        </p:nvSpPr>
        <p:spPr>
          <a:xfrm>
            <a:off x="4206240" y="4169664"/>
            <a:ext cx="1481328" cy="256032"/>
          </a:xfrm>
          <a:prstGeom prst="rect">
            <a:avLst/>
          </a:prstGeom>
          <a:solidFill>
            <a:srgbClr val="F0F3F7"/>
          </a:solidFill>
          <a:ln/>
        </p:spPr>
      </p:sp>
      <p:sp>
        <p:nvSpPr>
          <p:cNvPr id="35" name="Text 29"/>
          <p:cNvSpPr/>
          <p:nvPr/>
        </p:nvSpPr>
        <p:spPr>
          <a:xfrm>
            <a:off x="4224528" y="4178808"/>
            <a:ext cx="1444752" cy="237744"/>
          </a:xfrm>
          <a:prstGeom prst="rect">
            <a:avLst/>
          </a:prstGeom>
          <a:noFill/>
          <a:ln/>
        </p:spPr>
        <p:txBody>
          <a:bodyPr wrap="square"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Docker + Kubernetes</a:t>
            </a:r>
            <a:endParaRPr lang="en-US" sz="850" dirty="0"/>
          </a:p>
        </p:txBody>
      </p:sp>
      <p:sp>
        <p:nvSpPr>
          <p:cNvPr id="36" name="Shape 30"/>
          <p:cNvSpPr/>
          <p:nvPr/>
        </p:nvSpPr>
        <p:spPr>
          <a:xfrm>
            <a:off x="5788152" y="4169664"/>
            <a:ext cx="1481328" cy="256032"/>
          </a:xfrm>
          <a:prstGeom prst="rect">
            <a:avLst/>
          </a:prstGeom>
          <a:solidFill>
            <a:srgbClr val="F0F3F7"/>
          </a:solidFill>
          <a:ln/>
        </p:spPr>
      </p:sp>
      <p:sp>
        <p:nvSpPr>
          <p:cNvPr id="37" name="Text 31"/>
          <p:cNvSpPr/>
          <p:nvPr/>
        </p:nvSpPr>
        <p:spPr>
          <a:xfrm>
            <a:off x="5806440" y="4178808"/>
            <a:ext cx="1444752" cy="237744"/>
          </a:xfrm>
          <a:prstGeom prst="rect">
            <a:avLst/>
          </a:prstGeom>
          <a:noFill/>
          <a:ln/>
        </p:spPr>
        <p:txBody>
          <a:bodyPr wrap="square"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AWS / Azure</a:t>
            </a:r>
            <a:endParaRPr lang="en-US" sz="850" dirty="0"/>
          </a:p>
        </p:txBody>
      </p:sp>
      <p:sp>
        <p:nvSpPr>
          <p:cNvPr id="38" name="Shape 32"/>
          <p:cNvSpPr/>
          <p:nvPr/>
        </p:nvSpPr>
        <p:spPr>
          <a:xfrm>
            <a:off x="7370064" y="4169664"/>
            <a:ext cx="1481328" cy="256032"/>
          </a:xfrm>
          <a:prstGeom prst="rect">
            <a:avLst/>
          </a:prstGeom>
          <a:solidFill>
            <a:srgbClr val="F0F3F7"/>
          </a:solidFill>
          <a:ln/>
        </p:spPr>
      </p:sp>
      <p:sp>
        <p:nvSpPr>
          <p:cNvPr id="39" name="Text 33"/>
          <p:cNvSpPr/>
          <p:nvPr/>
        </p:nvSpPr>
        <p:spPr>
          <a:xfrm>
            <a:off x="7388352" y="4178808"/>
            <a:ext cx="1444752" cy="237744"/>
          </a:xfrm>
          <a:prstGeom prst="rect">
            <a:avLst/>
          </a:prstGeom>
          <a:noFill/>
          <a:ln/>
        </p:spPr>
        <p:txBody>
          <a:bodyPr wrap="square" rtlCol="0" anchor="ctr"/>
          <a:lstStyle/>
          <a:p>
            <a:pPr algn="ctr" indent="0" marL="0">
              <a:buNone/>
            </a:pPr>
            <a:r>
              <a:rPr lang="en-US" sz="850" dirty="0">
                <a:solidFill>
                  <a:srgbClr val="1E293B"/>
                </a:solidFill>
                <a:latin typeface="Calibri" pitchFamily="34" charset="0"/>
                <a:ea typeface="Calibri" pitchFamily="34" charset="-122"/>
                <a:cs typeface="Calibri" pitchFamily="34" charset="-120"/>
              </a:rPr>
              <a:t>CI/CD GitHub Actions</a:t>
            </a:r>
            <a:endParaRPr lang="en-US" sz="850" dirty="0"/>
          </a:p>
        </p:txBody>
      </p:sp>
      <p:sp>
        <p:nvSpPr>
          <p:cNvPr id="40" name="Shape 34"/>
          <p:cNvSpPr/>
          <p:nvPr/>
        </p:nvSpPr>
        <p:spPr>
          <a:xfrm>
            <a:off x="0" y="4956048"/>
            <a:ext cx="9144000" cy="187452"/>
          </a:xfrm>
          <a:prstGeom prst="rect">
            <a:avLst/>
          </a:prstGeom>
          <a:solidFill>
            <a:srgbClr val="1B3A5C"/>
          </a:solidFill>
          <a:ln/>
        </p:spPr>
      </p:sp>
      <p:sp>
        <p:nvSpPr>
          <p:cNvPr id="41" name="Text 35"/>
          <p:cNvSpPr/>
          <p:nvPr/>
        </p:nvSpPr>
        <p:spPr>
          <a:xfrm>
            <a:off x="0" y="4969764"/>
            <a:ext cx="9144000" cy="164592"/>
          </a:xfrm>
          <a:prstGeom prst="rect">
            <a:avLst/>
          </a:prstGeom>
          <a:noFill/>
          <a:ln/>
        </p:spPr>
        <p:txBody>
          <a:bodyPr wrap="square" rtlCol="0" anchor="ctr"/>
          <a:lstStyle/>
          <a:p>
            <a:pPr algn="ctr" indent="0" marL="0">
              <a:buNone/>
            </a:pPr>
            <a:r>
              <a:rPr lang="en-US" sz="850" dirty="0">
                <a:solidFill>
                  <a:srgbClr val="7AA8CC"/>
                </a:solidFill>
                <a:latin typeface="Calibri" pitchFamily="34" charset="0"/>
                <a:ea typeface="Calibri" pitchFamily="34" charset="-122"/>
                <a:cs typeface="Calibri" pitchFamily="34" charset="-120"/>
              </a:rPr>
              <a:t>Plateforme Éducative Intelligente — Architecture Microservices · Docker · Kubernetes · AWS/Azure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B3A5C"/>
          </a:solidFill>
          <a:ln/>
        </p:spPr>
      </p:sp>
      <p:sp>
        <p:nvSpPr>
          <p:cNvPr id="3" name="Shape 1"/>
          <p:cNvSpPr/>
          <p:nvPr/>
        </p:nvSpPr>
        <p:spPr>
          <a:xfrm>
            <a:off x="0" y="1161288"/>
            <a:ext cx="9144000" cy="54864"/>
          </a:xfrm>
          <a:prstGeom prst="rect">
            <a:avLst/>
          </a:prstGeom>
          <a:solidFill>
            <a:srgbClr val="2E74B5"/>
          </a:solidFill>
          <a:ln/>
        </p:spPr>
      </p:sp>
      <p:sp>
        <p:nvSpPr>
          <p:cNvPr id="4" name="Text 2"/>
          <p:cNvSpPr/>
          <p:nvPr/>
        </p:nvSpPr>
        <p:spPr>
          <a:xfrm>
            <a:off x="365760" y="137160"/>
            <a:ext cx="841248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PROBLÉMATIQUE</a:t>
            </a:r>
            <a:endParaRPr lang="en-US" sz="2400" dirty="0"/>
          </a:p>
        </p:txBody>
      </p:sp>
      <p:sp>
        <p:nvSpPr>
          <p:cNvPr id="5" name="Text 3"/>
          <p:cNvSpPr/>
          <p:nvPr/>
        </p:nvSpPr>
        <p:spPr>
          <a:xfrm>
            <a:off x="365760" y="713232"/>
            <a:ext cx="8412480" cy="36576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Pourquoi ce projet — Problème identifié et solution proposée</a:t>
            </a:r>
            <a:endParaRPr lang="en-US" sz="1200" dirty="0"/>
          </a:p>
        </p:txBody>
      </p:sp>
      <p:sp>
        <p:nvSpPr>
          <p:cNvPr id="6" name="Shape 4"/>
          <p:cNvSpPr/>
          <p:nvPr/>
        </p:nvSpPr>
        <p:spPr>
          <a:xfrm>
            <a:off x="274320" y="1298448"/>
            <a:ext cx="4114800" cy="3456432"/>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274320" y="1298448"/>
            <a:ext cx="4114800" cy="475488"/>
          </a:xfrm>
          <a:prstGeom prst="rect">
            <a:avLst/>
          </a:prstGeom>
          <a:solidFill>
            <a:srgbClr val="DC2626"/>
          </a:solidFill>
          <a:ln/>
        </p:spPr>
      </p:sp>
      <p:sp>
        <p:nvSpPr>
          <p:cNvPr id="8" name="Text 6"/>
          <p:cNvSpPr/>
          <p:nvPr/>
        </p:nvSpPr>
        <p:spPr>
          <a:xfrm>
            <a:off x="411480" y="1335024"/>
            <a:ext cx="384048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LE PROBLÈME</a:t>
            </a:r>
            <a:endParaRPr lang="en-US" sz="1300" dirty="0"/>
          </a:p>
        </p:txBody>
      </p:sp>
      <p:sp>
        <p:nvSpPr>
          <p:cNvPr id="9" name="Shape 7"/>
          <p:cNvSpPr/>
          <p:nvPr/>
        </p:nvSpPr>
        <p:spPr>
          <a:xfrm>
            <a:off x="411480" y="2002536"/>
            <a:ext cx="54864" cy="310896"/>
          </a:xfrm>
          <a:prstGeom prst="rect">
            <a:avLst/>
          </a:prstGeom>
          <a:solidFill>
            <a:srgbClr val="DC2626"/>
          </a:solidFill>
          <a:ln/>
        </p:spPr>
      </p:sp>
      <p:sp>
        <p:nvSpPr>
          <p:cNvPr id="10" name="Text 8"/>
          <p:cNvSpPr/>
          <p:nvPr/>
        </p:nvSpPr>
        <p:spPr>
          <a:xfrm>
            <a:off x="548640" y="1920240"/>
            <a:ext cx="356616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Ressources inadaptées</a:t>
            </a:r>
            <a:endParaRPr lang="en-US" sz="1100" dirty="0"/>
          </a:p>
        </p:txBody>
      </p:sp>
      <p:sp>
        <p:nvSpPr>
          <p:cNvPr id="11" name="Text 9"/>
          <p:cNvSpPr/>
          <p:nvPr/>
        </p:nvSpPr>
        <p:spPr>
          <a:xfrm>
            <a:off x="548640" y="2194560"/>
            <a:ext cx="3566160" cy="34747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Les étudiants peinent à trouver les contenus correspondant à leur niveau réel.</a:t>
            </a:r>
            <a:endParaRPr lang="en-US" sz="1000" dirty="0"/>
          </a:p>
        </p:txBody>
      </p:sp>
      <p:sp>
        <p:nvSpPr>
          <p:cNvPr id="12" name="Shape 10"/>
          <p:cNvSpPr/>
          <p:nvPr/>
        </p:nvSpPr>
        <p:spPr>
          <a:xfrm>
            <a:off x="411480" y="2697480"/>
            <a:ext cx="54864" cy="310896"/>
          </a:xfrm>
          <a:prstGeom prst="rect">
            <a:avLst/>
          </a:prstGeom>
          <a:solidFill>
            <a:srgbClr val="DC2626"/>
          </a:solidFill>
          <a:ln/>
        </p:spPr>
      </p:sp>
      <p:sp>
        <p:nvSpPr>
          <p:cNvPr id="13" name="Text 11"/>
          <p:cNvSpPr/>
          <p:nvPr/>
        </p:nvSpPr>
        <p:spPr>
          <a:xfrm>
            <a:off x="548640" y="2615184"/>
            <a:ext cx="356616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Manque de personnalisation</a:t>
            </a:r>
            <a:endParaRPr lang="en-US" sz="1100" dirty="0"/>
          </a:p>
        </p:txBody>
      </p:sp>
      <p:sp>
        <p:nvSpPr>
          <p:cNvPr id="14" name="Text 12"/>
          <p:cNvSpPr/>
          <p:nvPr/>
        </p:nvSpPr>
        <p:spPr>
          <a:xfrm>
            <a:off x="548640" y="2889504"/>
            <a:ext cx="3566160" cy="34747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Les plateformes actuelles proposent le même contenu à tous les utilisateurs.</a:t>
            </a:r>
            <a:endParaRPr lang="en-US" sz="1000" dirty="0"/>
          </a:p>
        </p:txBody>
      </p:sp>
      <p:sp>
        <p:nvSpPr>
          <p:cNvPr id="15" name="Shape 13"/>
          <p:cNvSpPr/>
          <p:nvPr/>
        </p:nvSpPr>
        <p:spPr>
          <a:xfrm>
            <a:off x="411480" y="3392424"/>
            <a:ext cx="54864" cy="310896"/>
          </a:xfrm>
          <a:prstGeom prst="rect">
            <a:avLst/>
          </a:prstGeom>
          <a:solidFill>
            <a:srgbClr val="DC2626"/>
          </a:solidFill>
          <a:ln/>
        </p:spPr>
      </p:sp>
      <p:sp>
        <p:nvSpPr>
          <p:cNvPr id="16" name="Text 14"/>
          <p:cNvSpPr/>
          <p:nvPr/>
        </p:nvSpPr>
        <p:spPr>
          <a:xfrm>
            <a:off x="548640" y="3310128"/>
            <a:ext cx="356616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Progression ralentie</a:t>
            </a:r>
            <a:endParaRPr lang="en-US" sz="1100" dirty="0"/>
          </a:p>
        </p:txBody>
      </p:sp>
      <p:sp>
        <p:nvSpPr>
          <p:cNvPr id="17" name="Text 15"/>
          <p:cNvSpPr/>
          <p:nvPr/>
        </p:nvSpPr>
        <p:spPr>
          <a:xfrm>
            <a:off x="548640" y="3584448"/>
            <a:ext cx="3566160" cy="34747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Sans ajustement dynamique, les lacunes s'accumulent sans être comblées.</a:t>
            </a:r>
            <a:endParaRPr lang="en-US" sz="1000" dirty="0"/>
          </a:p>
        </p:txBody>
      </p:sp>
      <p:sp>
        <p:nvSpPr>
          <p:cNvPr id="18" name="Shape 16"/>
          <p:cNvSpPr/>
          <p:nvPr/>
        </p:nvSpPr>
        <p:spPr>
          <a:xfrm>
            <a:off x="411480" y="4087368"/>
            <a:ext cx="54864" cy="310896"/>
          </a:xfrm>
          <a:prstGeom prst="rect">
            <a:avLst/>
          </a:prstGeom>
          <a:solidFill>
            <a:srgbClr val="DC2626"/>
          </a:solidFill>
          <a:ln/>
        </p:spPr>
      </p:sp>
      <p:sp>
        <p:nvSpPr>
          <p:cNvPr id="19" name="Text 17"/>
          <p:cNvSpPr/>
          <p:nvPr/>
        </p:nvSpPr>
        <p:spPr>
          <a:xfrm>
            <a:off x="548640" y="4005072"/>
            <a:ext cx="356616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Aucun suivi individuel</a:t>
            </a:r>
            <a:endParaRPr lang="en-US" sz="1100" dirty="0"/>
          </a:p>
        </p:txBody>
      </p:sp>
      <p:sp>
        <p:nvSpPr>
          <p:cNvPr id="20" name="Text 18"/>
          <p:cNvSpPr/>
          <p:nvPr/>
        </p:nvSpPr>
        <p:spPr>
          <a:xfrm>
            <a:off x="548640" y="4279392"/>
            <a:ext cx="3566160" cy="34747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Impossible de mesurer l'évolution et d'ajuster les objectifs en temps réel.</a:t>
            </a:r>
            <a:endParaRPr lang="en-US" sz="1000" dirty="0"/>
          </a:p>
        </p:txBody>
      </p:sp>
      <p:pic>
        <p:nvPicPr>
          <p:cNvPr id="21" name="Image 0" descr="preencoded.png">    </p:cNvPr>
          <p:cNvPicPr>
            <a:picLocks noChangeAspect="1"/>
          </p:cNvPicPr>
          <p:nvPr/>
        </p:nvPicPr>
        <p:blipFill>
          <a:blip r:embed="rId1"/>
          <a:stretch>
            <a:fillRect/>
          </a:stretch>
        </p:blipFill>
        <p:spPr>
          <a:xfrm>
            <a:off x="4425696" y="2633472"/>
            <a:ext cx="292608" cy="292608"/>
          </a:xfrm>
          <a:prstGeom prst="rect">
            <a:avLst/>
          </a:prstGeom>
        </p:spPr>
      </p:pic>
      <p:sp>
        <p:nvSpPr>
          <p:cNvPr id="22" name="Shape 19"/>
          <p:cNvSpPr/>
          <p:nvPr/>
        </p:nvSpPr>
        <p:spPr>
          <a:xfrm>
            <a:off x="4754880" y="1298448"/>
            <a:ext cx="4114800" cy="3456432"/>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3" name="Shape 20"/>
          <p:cNvSpPr/>
          <p:nvPr/>
        </p:nvSpPr>
        <p:spPr>
          <a:xfrm>
            <a:off x="4754880" y="1298448"/>
            <a:ext cx="4114800" cy="475488"/>
          </a:xfrm>
          <a:prstGeom prst="rect">
            <a:avLst/>
          </a:prstGeom>
          <a:solidFill>
            <a:srgbClr val="16A34A"/>
          </a:solidFill>
          <a:ln/>
        </p:spPr>
      </p:sp>
      <p:sp>
        <p:nvSpPr>
          <p:cNvPr id="24" name="Text 21"/>
          <p:cNvSpPr/>
          <p:nvPr/>
        </p:nvSpPr>
        <p:spPr>
          <a:xfrm>
            <a:off x="4892040" y="1335024"/>
            <a:ext cx="3840480" cy="384048"/>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NOTRE SOLUTION</a:t>
            </a:r>
            <a:endParaRPr lang="en-US" sz="1300" dirty="0"/>
          </a:p>
        </p:txBody>
      </p:sp>
      <p:sp>
        <p:nvSpPr>
          <p:cNvPr id="25" name="Shape 22"/>
          <p:cNvSpPr/>
          <p:nvPr/>
        </p:nvSpPr>
        <p:spPr>
          <a:xfrm>
            <a:off x="4892040" y="2002536"/>
            <a:ext cx="54864" cy="310896"/>
          </a:xfrm>
          <a:prstGeom prst="rect">
            <a:avLst/>
          </a:prstGeom>
          <a:solidFill>
            <a:srgbClr val="16A34A"/>
          </a:solidFill>
          <a:ln/>
        </p:spPr>
      </p:sp>
      <p:sp>
        <p:nvSpPr>
          <p:cNvPr id="26" name="Text 23"/>
          <p:cNvSpPr/>
          <p:nvPr/>
        </p:nvSpPr>
        <p:spPr>
          <a:xfrm>
            <a:off x="5029200" y="1920240"/>
            <a:ext cx="356616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Profilage intelligent</a:t>
            </a:r>
            <a:endParaRPr lang="en-US" sz="1100" dirty="0"/>
          </a:p>
        </p:txBody>
      </p:sp>
      <p:sp>
        <p:nvSpPr>
          <p:cNvPr id="27" name="Text 24"/>
          <p:cNvSpPr/>
          <p:nvPr/>
        </p:nvSpPr>
        <p:spPr>
          <a:xfrm>
            <a:off x="5029200" y="2194560"/>
            <a:ext cx="3566160" cy="34747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Collecte du niveau, préférences et résultats de chaque étudiant.</a:t>
            </a:r>
            <a:endParaRPr lang="en-US" sz="1000" dirty="0"/>
          </a:p>
        </p:txBody>
      </p:sp>
      <p:sp>
        <p:nvSpPr>
          <p:cNvPr id="28" name="Shape 25"/>
          <p:cNvSpPr/>
          <p:nvPr/>
        </p:nvSpPr>
        <p:spPr>
          <a:xfrm>
            <a:off x="4892040" y="2697480"/>
            <a:ext cx="54864" cy="310896"/>
          </a:xfrm>
          <a:prstGeom prst="rect">
            <a:avLst/>
          </a:prstGeom>
          <a:solidFill>
            <a:srgbClr val="16A34A"/>
          </a:solidFill>
          <a:ln/>
        </p:spPr>
      </p:sp>
      <p:sp>
        <p:nvSpPr>
          <p:cNvPr id="29" name="Text 26"/>
          <p:cNvSpPr/>
          <p:nvPr/>
        </p:nvSpPr>
        <p:spPr>
          <a:xfrm>
            <a:off x="5029200" y="2615184"/>
            <a:ext cx="356616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Moteur IA hybride</a:t>
            </a:r>
            <a:endParaRPr lang="en-US" sz="1100" dirty="0"/>
          </a:p>
        </p:txBody>
      </p:sp>
      <p:sp>
        <p:nvSpPr>
          <p:cNvPr id="30" name="Text 27"/>
          <p:cNvSpPr/>
          <p:nvPr/>
        </p:nvSpPr>
        <p:spPr>
          <a:xfrm>
            <a:off x="5029200" y="2889504"/>
            <a:ext cx="3566160" cy="34747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Filtrage collaboratif + content-based pour des recommandations précises.</a:t>
            </a:r>
            <a:endParaRPr lang="en-US" sz="1000" dirty="0"/>
          </a:p>
        </p:txBody>
      </p:sp>
      <p:sp>
        <p:nvSpPr>
          <p:cNvPr id="31" name="Shape 28"/>
          <p:cNvSpPr/>
          <p:nvPr/>
        </p:nvSpPr>
        <p:spPr>
          <a:xfrm>
            <a:off x="4892040" y="3392424"/>
            <a:ext cx="54864" cy="310896"/>
          </a:xfrm>
          <a:prstGeom prst="rect">
            <a:avLst/>
          </a:prstGeom>
          <a:solidFill>
            <a:srgbClr val="16A34A"/>
          </a:solidFill>
          <a:ln/>
        </p:spPr>
      </p:sp>
      <p:sp>
        <p:nvSpPr>
          <p:cNvPr id="32" name="Text 29"/>
          <p:cNvSpPr/>
          <p:nvPr/>
        </p:nvSpPr>
        <p:spPr>
          <a:xfrm>
            <a:off x="5029200" y="3310128"/>
            <a:ext cx="356616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Objectifs adaptatifs</a:t>
            </a:r>
            <a:endParaRPr lang="en-US" sz="1100" dirty="0"/>
          </a:p>
        </p:txBody>
      </p:sp>
      <p:sp>
        <p:nvSpPr>
          <p:cNvPr id="33" name="Text 30"/>
          <p:cNvSpPr/>
          <p:nvPr/>
        </p:nvSpPr>
        <p:spPr>
          <a:xfrm>
            <a:off x="5029200" y="3584448"/>
            <a:ext cx="3566160" cy="34747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Définition, suivi et ajustement dynamique des parcours d'apprentissage.</a:t>
            </a:r>
            <a:endParaRPr lang="en-US" sz="1000" dirty="0"/>
          </a:p>
        </p:txBody>
      </p:sp>
      <p:sp>
        <p:nvSpPr>
          <p:cNvPr id="34" name="Shape 31"/>
          <p:cNvSpPr/>
          <p:nvPr/>
        </p:nvSpPr>
        <p:spPr>
          <a:xfrm>
            <a:off x="4892040" y="4087368"/>
            <a:ext cx="54864" cy="310896"/>
          </a:xfrm>
          <a:prstGeom prst="rect">
            <a:avLst/>
          </a:prstGeom>
          <a:solidFill>
            <a:srgbClr val="16A34A"/>
          </a:solidFill>
          <a:ln/>
        </p:spPr>
      </p:sp>
      <p:sp>
        <p:nvSpPr>
          <p:cNvPr id="35" name="Text 32"/>
          <p:cNvSpPr/>
          <p:nvPr/>
        </p:nvSpPr>
        <p:spPr>
          <a:xfrm>
            <a:off x="5029200" y="4005072"/>
            <a:ext cx="3566160" cy="274320"/>
          </a:xfrm>
          <a:prstGeom prst="rect">
            <a:avLst/>
          </a:prstGeom>
          <a:noFill/>
          <a:ln/>
        </p:spPr>
        <p:txBody>
          <a:bodyPr wrap="square" rtlCol="0" anchor="ctr"/>
          <a:lstStyle/>
          <a:p>
            <a:pPr indent="0" marL="0">
              <a:buNone/>
            </a:pPr>
            <a:r>
              <a:rPr lang="en-US" sz="1100" b="1" dirty="0">
                <a:solidFill>
                  <a:srgbClr val="1E293B"/>
                </a:solidFill>
                <a:latin typeface="Calibri" pitchFamily="34" charset="0"/>
                <a:ea typeface="Calibri" pitchFamily="34" charset="-122"/>
                <a:cs typeface="Calibri" pitchFamily="34" charset="-120"/>
              </a:rPr>
              <a:t>Temps réel &amp; feedback</a:t>
            </a:r>
            <a:endParaRPr lang="en-US" sz="1100" dirty="0"/>
          </a:p>
        </p:txBody>
      </p:sp>
      <p:sp>
        <p:nvSpPr>
          <p:cNvPr id="36" name="Text 33"/>
          <p:cNvSpPr/>
          <p:nvPr/>
        </p:nvSpPr>
        <p:spPr>
          <a:xfrm>
            <a:off x="5029200" y="4279392"/>
            <a:ext cx="3566160" cy="347472"/>
          </a:xfrm>
          <a:prstGeom prst="rect">
            <a:avLst/>
          </a:prstGeom>
          <a:noFill/>
          <a:ln/>
        </p:spPr>
        <p:txBody>
          <a:bodyPr wrap="square" rtlCol="0" anchor="ctr"/>
          <a:lstStyle/>
          <a:p>
            <a:pPr indent="0" marL="0">
              <a:buNone/>
            </a:pPr>
            <a:r>
              <a:rPr lang="en-US" sz="1000" dirty="0">
                <a:solidFill>
                  <a:srgbClr val="94A3B8"/>
                </a:solidFill>
                <a:latin typeface="Calibri" pitchFamily="34" charset="0"/>
                <a:ea typeface="Calibri" pitchFamily="34" charset="-122"/>
                <a:cs typeface="Calibri" pitchFamily="34" charset="-120"/>
              </a:rPr>
              <a:t>WebSockets + Firebase + boucle de feedback pour améliorer le modèle IA.</a:t>
            </a:r>
            <a:endParaRPr lang="en-US" sz="1000" dirty="0"/>
          </a:p>
        </p:txBody>
      </p:sp>
      <p:sp>
        <p:nvSpPr>
          <p:cNvPr id="37" name="Shape 34"/>
          <p:cNvSpPr/>
          <p:nvPr/>
        </p:nvSpPr>
        <p:spPr>
          <a:xfrm>
            <a:off x="0" y="4956048"/>
            <a:ext cx="9144000" cy="187452"/>
          </a:xfrm>
          <a:prstGeom prst="rect">
            <a:avLst/>
          </a:prstGeom>
          <a:solidFill>
            <a:srgbClr val="E2E8F0"/>
          </a:solidFill>
          <a:ln/>
        </p:spPr>
      </p:sp>
      <p:sp>
        <p:nvSpPr>
          <p:cNvPr id="38" name="Text 35"/>
          <p:cNvSpPr/>
          <p:nvPr/>
        </p:nvSpPr>
        <p:spPr>
          <a:xfrm>
            <a:off x="365760" y="4969764"/>
            <a:ext cx="6400800" cy="164592"/>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Plateforme Éducative Intelligente — IA &amp; Microservices</a:t>
            </a:r>
            <a:endParaRPr lang="en-US" sz="850" dirty="0"/>
          </a:p>
        </p:txBody>
      </p:sp>
      <p:sp>
        <p:nvSpPr>
          <p:cNvPr id="39" name="Text 36"/>
          <p:cNvSpPr/>
          <p:nvPr/>
        </p:nvSpPr>
        <p:spPr>
          <a:xfrm>
            <a:off x="0" y="4969764"/>
            <a:ext cx="8778240" cy="164592"/>
          </a:xfrm>
          <a:prstGeom prst="rect">
            <a:avLst/>
          </a:prstGeom>
          <a:noFill/>
          <a:ln/>
        </p:spPr>
        <p:txBody>
          <a:bodyPr wrap="square"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02 / 12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B3A5C"/>
          </a:solidFill>
          <a:ln/>
        </p:spPr>
      </p:sp>
      <p:sp>
        <p:nvSpPr>
          <p:cNvPr id="3" name="Shape 1"/>
          <p:cNvSpPr/>
          <p:nvPr/>
        </p:nvSpPr>
        <p:spPr>
          <a:xfrm>
            <a:off x="0" y="1161288"/>
            <a:ext cx="9144000" cy="54864"/>
          </a:xfrm>
          <a:prstGeom prst="rect">
            <a:avLst/>
          </a:prstGeom>
          <a:solidFill>
            <a:srgbClr val="2E74B5"/>
          </a:solidFill>
          <a:ln/>
        </p:spPr>
      </p:sp>
      <p:sp>
        <p:nvSpPr>
          <p:cNvPr id="4" name="Text 2"/>
          <p:cNvSpPr/>
          <p:nvPr/>
        </p:nvSpPr>
        <p:spPr>
          <a:xfrm>
            <a:off x="365760" y="137160"/>
            <a:ext cx="841248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DESCRIPTION DU PROJET</a:t>
            </a:r>
            <a:endParaRPr lang="en-US" sz="2400" dirty="0"/>
          </a:p>
        </p:txBody>
      </p:sp>
      <p:sp>
        <p:nvSpPr>
          <p:cNvPr id="5" name="Text 3"/>
          <p:cNvSpPr/>
          <p:nvPr/>
        </p:nvSpPr>
        <p:spPr>
          <a:xfrm>
            <a:off x="365760" y="713232"/>
            <a:ext cx="8412480" cy="36576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Application web et mobile avec parcours d'apprentissage personnalisés par l'IA</a:t>
            </a:r>
            <a:endParaRPr lang="en-US" sz="1200" dirty="0"/>
          </a:p>
        </p:txBody>
      </p:sp>
      <p:sp>
        <p:nvSpPr>
          <p:cNvPr id="6" name="Shape 4"/>
          <p:cNvSpPr/>
          <p:nvPr/>
        </p:nvSpPr>
        <p:spPr>
          <a:xfrm>
            <a:off x="274320" y="1325880"/>
            <a:ext cx="2743200" cy="1627632"/>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274320" y="1325880"/>
            <a:ext cx="2743200" cy="64008"/>
          </a:xfrm>
          <a:prstGeom prst="rect">
            <a:avLst/>
          </a:prstGeom>
          <a:solidFill>
            <a:srgbClr val="2E74B5"/>
          </a:solidFill>
          <a:ln/>
        </p:spPr>
      </p:sp>
      <p:sp>
        <p:nvSpPr>
          <p:cNvPr id="8" name="Shape 6"/>
          <p:cNvSpPr/>
          <p:nvPr/>
        </p:nvSpPr>
        <p:spPr>
          <a:xfrm>
            <a:off x="420624" y="1490472"/>
            <a:ext cx="475488" cy="475488"/>
          </a:xfrm>
          <a:prstGeom prst="ellipse">
            <a:avLst/>
          </a:prstGeom>
          <a:solidFill>
            <a:srgbClr val="2E74B5"/>
          </a:solidFill>
          <a:ln w="12700">
            <a:solidFill>
              <a:srgbClr val="2E74B5"/>
            </a:solidFill>
            <a:prstDash val="solid"/>
          </a:ln>
        </p:spPr>
      </p:sp>
      <p:pic>
        <p:nvPicPr>
          <p:cNvPr id="9" name="Image 0" descr="preencoded.png">    </p:cNvPr>
          <p:cNvPicPr>
            <a:picLocks noChangeAspect="1"/>
          </p:cNvPicPr>
          <p:nvPr/>
        </p:nvPicPr>
        <p:blipFill>
          <a:blip r:embed="rId1"/>
          <a:stretch>
            <a:fillRect/>
          </a:stretch>
        </p:blipFill>
        <p:spPr>
          <a:xfrm>
            <a:off x="466344" y="1536192"/>
            <a:ext cx="365760" cy="365760"/>
          </a:xfrm>
          <a:prstGeom prst="rect">
            <a:avLst/>
          </a:prstGeom>
        </p:spPr>
      </p:pic>
      <p:sp>
        <p:nvSpPr>
          <p:cNvPr id="10" name="Text 7"/>
          <p:cNvSpPr/>
          <p:nvPr/>
        </p:nvSpPr>
        <p:spPr>
          <a:xfrm>
            <a:off x="1024128" y="1472184"/>
            <a:ext cx="1874520" cy="384048"/>
          </a:xfrm>
          <a:prstGeom prst="rect">
            <a:avLst/>
          </a:prstGeom>
          <a:noFill/>
          <a:ln/>
        </p:spPr>
        <p:txBody>
          <a:bodyPr wrap="square" rtlCol="0" anchor="ctr"/>
          <a:lstStyle/>
          <a:p>
            <a:pPr indent="0" marL="0">
              <a:buNone/>
            </a:pPr>
            <a:r>
              <a:rPr lang="en-US" sz="1150" b="1" dirty="0">
                <a:solidFill>
                  <a:srgbClr val="1B3A5C"/>
                </a:solidFill>
                <a:latin typeface="Calibri" pitchFamily="34" charset="0"/>
                <a:ea typeface="Calibri" pitchFamily="34" charset="-122"/>
                <a:cs typeface="Calibri" pitchFamily="34" charset="-120"/>
              </a:rPr>
              <a:t>Collecte des données</a:t>
            </a:r>
            <a:endParaRPr lang="en-US" sz="1150" dirty="0"/>
          </a:p>
        </p:txBody>
      </p:sp>
      <p:sp>
        <p:nvSpPr>
          <p:cNvPr id="11" name="Shape 8"/>
          <p:cNvSpPr/>
          <p:nvPr/>
        </p:nvSpPr>
        <p:spPr>
          <a:xfrm>
            <a:off x="402336" y="2029968"/>
            <a:ext cx="2487168" cy="36576"/>
          </a:xfrm>
          <a:prstGeom prst="rect">
            <a:avLst/>
          </a:prstGeom>
          <a:solidFill>
            <a:srgbClr val="E2E8F0"/>
          </a:solidFill>
          <a:ln/>
        </p:spPr>
      </p:sp>
      <p:sp>
        <p:nvSpPr>
          <p:cNvPr id="12" name="Text 9"/>
          <p:cNvSpPr/>
          <p:nvPr/>
        </p:nvSpPr>
        <p:spPr>
          <a:xfrm>
            <a:off x="402336" y="2130552"/>
            <a:ext cx="2487168" cy="7132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Niveau, préférences d'apprentissage et résultats passés de chaque apprenant.</a:t>
            </a:r>
            <a:endParaRPr lang="en-US" sz="950" dirty="0"/>
          </a:p>
        </p:txBody>
      </p:sp>
      <p:sp>
        <p:nvSpPr>
          <p:cNvPr id="13" name="Shape 10"/>
          <p:cNvSpPr/>
          <p:nvPr/>
        </p:nvSpPr>
        <p:spPr>
          <a:xfrm>
            <a:off x="3172968" y="1325880"/>
            <a:ext cx="2743200" cy="1627632"/>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1"/>
          <p:cNvSpPr/>
          <p:nvPr/>
        </p:nvSpPr>
        <p:spPr>
          <a:xfrm>
            <a:off x="3172968" y="1325880"/>
            <a:ext cx="2743200" cy="64008"/>
          </a:xfrm>
          <a:prstGeom prst="rect">
            <a:avLst/>
          </a:prstGeom>
          <a:solidFill>
            <a:srgbClr val="2E74B5"/>
          </a:solidFill>
          <a:ln/>
        </p:spPr>
      </p:sp>
      <p:sp>
        <p:nvSpPr>
          <p:cNvPr id="15" name="Shape 12"/>
          <p:cNvSpPr/>
          <p:nvPr/>
        </p:nvSpPr>
        <p:spPr>
          <a:xfrm>
            <a:off x="3319272" y="1490472"/>
            <a:ext cx="475488" cy="475488"/>
          </a:xfrm>
          <a:prstGeom prst="ellipse">
            <a:avLst/>
          </a:prstGeom>
          <a:solidFill>
            <a:srgbClr val="2E74B5"/>
          </a:solidFill>
          <a:ln w="12700">
            <a:solidFill>
              <a:srgbClr val="2E74B5"/>
            </a:solidFill>
            <a:prstDash val="solid"/>
          </a:ln>
        </p:spPr>
      </p:sp>
      <p:pic>
        <p:nvPicPr>
          <p:cNvPr id="16" name="Image 1" descr="preencoded.png">    </p:cNvPr>
          <p:cNvPicPr>
            <a:picLocks noChangeAspect="1"/>
          </p:cNvPicPr>
          <p:nvPr/>
        </p:nvPicPr>
        <p:blipFill>
          <a:blip r:embed="rId2"/>
          <a:stretch>
            <a:fillRect/>
          </a:stretch>
        </p:blipFill>
        <p:spPr>
          <a:xfrm>
            <a:off x="3364992" y="1536192"/>
            <a:ext cx="365760" cy="365760"/>
          </a:xfrm>
          <a:prstGeom prst="rect">
            <a:avLst/>
          </a:prstGeom>
        </p:spPr>
      </p:pic>
      <p:sp>
        <p:nvSpPr>
          <p:cNvPr id="17" name="Text 13"/>
          <p:cNvSpPr/>
          <p:nvPr/>
        </p:nvSpPr>
        <p:spPr>
          <a:xfrm>
            <a:off x="3922776" y="1472184"/>
            <a:ext cx="1874520" cy="384048"/>
          </a:xfrm>
          <a:prstGeom prst="rect">
            <a:avLst/>
          </a:prstGeom>
          <a:noFill/>
          <a:ln/>
        </p:spPr>
        <p:txBody>
          <a:bodyPr wrap="square" rtlCol="0" anchor="ctr"/>
          <a:lstStyle/>
          <a:p>
            <a:pPr indent="0" marL="0">
              <a:buNone/>
            </a:pPr>
            <a:r>
              <a:rPr lang="en-US" sz="1150" b="1" dirty="0">
                <a:solidFill>
                  <a:srgbClr val="1B3A5C"/>
                </a:solidFill>
                <a:latin typeface="Calibri" pitchFamily="34" charset="0"/>
                <a:ea typeface="Calibri" pitchFamily="34" charset="-122"/>
                <a:cs typeface="Calibri" pitchFamily="34" charset="-120"/>
              </a:rPr>
              <a:t>Moteur IA &amp; ML</a:t>
            </a:r>
            <a:endParaRPr lang="en-US" sz="1150" dirty="0"/>
          </a:p>
        </p:txBody>
      </p:sp>
      <p:sp>
        <p:nvSpPr>
          <p:cNvPr id="18" name="Shape 14"/>
          <p:cNvSpPr/>
          <p:nvPr/>
        </p:nvSpPr>
        <p:spPr>
          <a:xfrm>
            <a:off x="3300984" y="2029968"/>
            <a:ext cx="2487168" cy="36576"/>
          </a:xfrm>
          <a:prstGeom prst="rect">
            <a:avLst/>
          </a:prstGeom>
          <a:solidFill>
            <a:srgbClr val="E2E8F0"/>
          </a:solidFill>
          <a:ln/>
        </p:spPr>
      </p:sp>
      <p:sp>
        <p:nvSpPr>
          <p:cNvPr id="19" name="Text 15"/>
          <p:cNvSpPr/>
          <p:nvPr/>
        </p:nvSpPr>
        <p:spPr>
          <a:xfrm>
            <a:off x="3300984" y="2130552"/>
            <a:ext cx="2487168" cy="7132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Filtrage collaboratif + content-based filtering pour des recommandations ciblées.</a:t>
            </a:r>
            <a:endParaRPr lang="en-US" sz="950" dirty="0"/>
          </a:p>
        </p:txBody>
      </p:sp>
      <p:sp>
        <p:nvSpPr>
          <p:cNvPr id="20" name="Shape 16"/>
          <p:cNvSpPr/>
          <p:nvPr/>
        </p:nvSpPr>
        <p:spPr>
          <a:xfrm>
            <a:off x="6071616" y="1325880"/>
            <a:ext cx="2743200" cy="1627632"/>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1" name="Shape 17"/>
          <p:cNvSpPr/>
          <p:nvPr/>
        </p:nvSpPr>
        <p:spPr>
          <a:xfrm>
            <a:off x="6071616" y="1325880"/>
            <a:ext cx="2743200" cy="64008"/>
          </a:xfrm>
          <a:prstGeom prst="rect">
            <a:avLst/>
          </a:prstGeom>
          <a:solidFill>
            <a:srgbClr val="2E74B5"/>
          </a:solidFill>
          <a:ln/>
        </p:spPr>
      </p:sp>
      <p:sp>
        <p:nvSpPr>
          <p:cNvPr id="22" name="Shape 18"/>
          <p:cNvSpPr/>
          <p:nvPr/>
        </p:nvSpPr>
        <p:spPr>
          <a:xfrm>
            <a:off x="6217920" y="1490472"/>
            <a:ext cx="475488" cy="475488"/>
          </a:xfrm>
          <a:prstGeom prst="ellipse">
            <a:avLst/>
          </a:prstGeom>
          <a:solidFill>
            <a:srgbClr val="2E74B5"/>
          </a:solidFill>
          <a:ln w="12700">
            <a:solidFill>
              <a:srgbClr val="2E74B5"/>
            </a:solidFill>
            <a:prstDash val="solid"/>
          </a:ln>
        </p:spPr>
      </p:sp>
      <p:pic>
        <p:nvPicPr>
          <p:cNvPr id="23" name="Image 2" descr="preencoded.png">    </p:cNvPr>
          <p:cNvPicPr>
            <a:picLocks noChangeAspect="1"/>
          </p:cNvPicPr>
          <p:nvPr/>
        </p:nvPicPr>
        <p:blipFill>
          <a:blip r:embed="rId3"/>
          <a:stretch>
            <a:fillRect/>
          </a:stretch>
        </p:blipFill>
        <p:spPr>
          <a:xfrm>
            <a:off x="6263640" y="1536192"/>
            <a:ext cx="365760" cy="365760"/>
          </a:xfrm>
          <a:prstGeom prst="rect">
            <a:avLst/>
          </a:prstGeom>
        </p:spPr>
      </p:pic>
      <p:sp>
        <p:nvSpPr>
          <p:cNvPr id="24" name="Text 19"/>
          <p:cNvSpPr/>
          <p:nvPr/>
        </p:nvSpPr>
        <p:spPr>
          <a:xfrm>
            <a:off x="6821424" y="1472184"/>
            <a:ext cx="1874520" cy="384048"/>
          </a:xfrm>
          <a:prstGeom prst="rect">
            <a:avLst/>
          </a:prstGeom>
          <a:noFill/>
          <a:ln/>
        </p:spPr>
        <p:txBody>
          <a:bodyPr wrap="square" rtlCol="0" anchor="ctr"/>
          <a:lstStyle/>
          <a:p>
            <a:pPr indent="0" marL="0">
              <a:buNone/>
            </a:pPr>
            <a:r>
              <a:rPr lang="en-US" sz="1150" b="1" dirty="0">
                <a:solidFill>
                  <a:srgbClr val="1B3A5C"/>
                </a:solidFill>
                <a:latin typeface="Calibri" pitchFamily="34" charset="0"/>
                <a:ea typeface="Calibri" pitchFamily="34" charset="-122"/>
                <a:cs typeface="Calibri" pitchFamily="34" charset="-120"/>
              </a:rPr>
              <a:t>Suivi de progression</a:t>
            </a:r>
            <a:endParaRPr lang="en-US" sz="1150" dirty="0"/>
          </a:p>
        </p:txBody>
      </p:sp>
      <p:sp>
        <p:nvSpPr>
          <p:cNvPr id="25" name="Shape 20"/>
          <p:cNvSpPr/>
          <p:nvPr/>
        </p:nvSpPr>
        <p:spPr>
          <a:xfrm>
            <a:off x="6199632" y="2029968"/>
            <a:ext cx="2487168" cy="36576"/>
          </a:xfrm>
          <a:prstGeom prst="rect">
            <a:avLst/>
          </a:prstGeom>
          <a:solidFill>
            <a:srgbClr val="E2E8F0"/>
          </a:solidFill>
          <a:ln/>
        </p:spPr>
      </p:sp>
      <p:sp>
        <p:nvSpPr>
          <p:cNvPr id="26" name="Text 21"/>
          <p:cNvSpPr/>
          <p:nvPr/>
        </p:nvSpPr>
        <p:spPr>
          <a:xfrm>
            <a:off x="6199632" y="2130552"/>
            <a:ext cx="2487168" cy="7132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Tableau de bord temps réel, objectifs définis, résultats mesurés à chaque étape.</a:t>
            </a:r>
            <a:endParaRPr lang="en-US" sz="950" dirty="0"/>
          </a:p>
        </p:txBody>
      </p:sp>
      <p:sp>
        <p:nvSpPr>
          <p:cNvPr id="27" name="Shape 22"/>
          <p:cNvSpPr/>
          <p:nvPr/>
        </p:nvSpPr>
        <p:spPr>
          <a:xfrm>
            <a:off x="274320" y="3090672"/>
            <a:ext cx="2743200" cy="1627632"/>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8" name="Shape 23"/>
          <p:cNvSpPr/>
          <p:nvPr/>
        </p:nvSpPr>
        <p:spPr>
          <a:xfrm>
            <a:off x="274320" y="3090672"/>
            <a:ext cx="2743200" cy="64008"/>
          </a:xfrm>
          <a:prstGeom prst="rect">
            <a:avLst/>
          </a:prstGeom>
          <a:solidFill>
            <a:srgbClr val="2B5482"/>
          </a:solidFill>
          <a:ln/>
        </p:spPr>
      </p:sp>
      <p:sp>
        <p:nvSpPr>
          <p:cNvPr id="29" name="Shape 24"/>
          <p:cNvSpPr/>
          <p:nvPr/>
        </p:nvSpPr>
        <p:spPr>
          <a:xfrm>
            <a:off x="420624" y="3255264"/>
            <a:ext cx="475488" cy="475488"/>
          </a:xfrm>
          <a:prstGeom prst="ellipse">
            <a:avLst/>
          </a:prstGeom>
          <a:solidFill>
            <a:srgbClr val="2B5482"/>
          </a:solidFill>
          <a:ln w="12700">
            <a:solidFill>
              <a:srgbClr val="2B5482"/>
            </a:solidFill>
            <a:prstDash val="solid"/>
          </a:ln>
        </p:spPr>
      </p:sp>
      <p:pic>
        <p:nvPicPr>
          <p:cNvPr id="30" name="Image 3" descr="preencoded.png">    </p:cNvPr>
          <p:cNvPicPr>
            <a:picLocks noChangeAspect="1"/>
          </p:cNvPicPr>
          <p:nvPr/>
        </p:nvPicPr>
        <p:blipFill>
          <a:blip r:embed="rId4"/>
          <a:stretch>
            <a:fillRect/>
          </a:stretch>
        </p:blipFill>
        <p:spPr>
          <a:xfrm>
            <a:off x="466344" y="3300984"/>
            <a:ext cx="365760" cy="365760"/>
          </a:xfrm>
          <a:prstGeom prst="rect">
            <a:avLst/>
          </a:prstGeom>
        </p:spPr>
      </p:pic>
      <p:sp>
        <p:nvSpPr>
          <p:cNvPr id="31" name="Text 25"/>
          <p:cNvSpPr/>
          <p:nvPr/>
        </p:nvSpPr>
        <p:spPr>
          <a:xfrm>
            <a:off x="1024128" y="3236976"/>
            <a:ext cx="1874520" cy="384048"/>
          </a:xfrm>
          <a:prstGeom prst="rect">
            <a:avLst/>
          </a:prstGeom>
          <a:noFill/>
          <a:ln/>
        </p:spPr>
        <p:txBody>
          <a:bodyPr wrap="square" rtlCol="0" anchor="ctr"/>
          <a:lstStyle/>
          <a:p>
            <a:pPr indent="0" marL="0">
              <a:buNone/>
            </a:pPr>
            <a:r>
              <a:rPr lang="en-US" sz="1150" b="1" dirty="0">
                <a:solidFill>
                  <a:srgbClr val="1B3A5C"/>
                </a:solidFill>
                <a:latin typeface="Calibri" pitchFamily="34" charset="0"/>
                <a:ea typeface="Calibri" pitchFamily="34" charset="-122"/>
                <a:cs typeface="Calibri" pitchFamily="34" charset="-120"/>
              </a:rPr>
              <a:t>Interactions sociales</a:t>
            </a:r>
            <a:endParaRPr lang="en-US" sz="1150" dirty="0"/>
          </a:p>
        </p:txBody>
      </p:sp>
      <p:sp>
        <p:nvSpPr>
          <p:cNvPr id="32" name="Shape 26"/>
          <p:cNvSpPr/>
          <p:nvPr/>
        </p:nvSpPr>
        <p:spPr>
          <a:xfrm>
            <a:off x="402336" y="3794760"/>
            <a:ext cx="2487168" cy="36576"/>
          </a:xfrm>
          <a:prstGeom prst="rect">
            <a:avLst/>
          </a:prstGeom>
          <a:solidFill>
            <a:srgbClr val="E2E8F0"/>
          </a:solidFill>
          <a:ln/>
        </p:spPr>
      </p:sp>
      <p:sp>
        <p:nvSpPr>
          <p:cNvPr id="33" name="Text 27"/>
          <p:cNvSpPr/>
          <p:nvPr/>
        </p:nvSpPr>
        <p:spPr>
          <a:xfrm>
            <a:off x="402336" y="3895344"/>
            <a:ext cx="2487168" cy="7132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Forums, commentaires, partage de ressources entre étudiants, notifications push.</a:t>
            </a:r>
            <a:endParaRPr lang="en-US" sz="950" dirty="0"/>
          </a:p>
        </p:txBody>
      </p:sp>
      <p:sp>
        <p:nvSpPr>
          <p:cNvPr id="34" name="Shape 28"/>
          <p:cNvSpPr/>
          <p:nvPr/>
        </p:nvSpPr>
        <p:spPr>
          <a:xfrm>
            <a:off x="3172968" y="3090672"/>
            <a:ext cx="2743200" cy="1627632"/>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5" name="Shape 29"/>
          <p:cNvSpPr/>
          <p:nvPr/>
        </p:nvSpPr>
        <p:spPr>
          <a:xfrm>
            <a:off x="3172968" y="3090672"/>
            <a:ext cx="2743200" cy="64008"/>
          </a:xfrm>
          <a:prstGeom prst="rect">
            <a:avLst/>
          </a:prstGeom>
          <a:solidFill>
            <a:srgbClr val="2B5482"/>
          </a:solidFill>
          <a:ln/>
        </p:spPr>
      </p:sp>
      <p:sp>
        <p:nvSpPr>
          <p:cNvPr id="36" name="Shape 30"/>
          <p:cNvSpPr/>
          <p:nvPr/>
        </p:nvSpPr>
        <p:spPr>
          <a:xfrm>
            <a:off x="3319272" y="3255264"/>
            <a:ext cx="475488" cy="475488"/>
          </a:xfrm>
          <a:prstGeom prst="ellipse">
            <a:avLst/>
          </a:prstGeom>
          <a:solidFill>
            <a:srgbClr val="2B5482"/>
          </a:solidFill>
          <a:ln w="12700">
            <a:solidFill>
              <a:srgbClr val="2B5482"/>
            </a:solidFill>
            <a:prstDash val="solid"/>
          </a:ln>
        </p:spPr>
      </p:sp>
      <p:pic>
        <p:nvPicPr>
          <p:cNvPr id="37" name="Image 4" descr="preencoded.png">    </p:cNvPr>
          <p:cNvPicPr>
            <a:picLocks noChangeAspect="1"/>
          </p:cNvPicPr>
          <p:nvPr/>
        </p:nvPicPr>
        <p:blipFill>
          <a:blip r:embed="rId5"/>
          <a:stretch>
            <a:fillRect/>
          </a:stretch>
        </p:blipFill>
        <p:spPr>
          <a:xfrm>
            <a:off x="3364992" y="3300984"/>
            <a:ext cx="365760" cy="365760"/>
          </a:xfrm>
          <a:prstGeom prst="rect">
            <a:avLst/>
          </a:prstGeom>
        </p:spPr>
      </p:pic>
      <p:sp>
        <p:nvSpPr>
          <p:cNvPr id="38" name="Text 31"/>
          <p:cNvSpPr/>
          <p:nvPr/>
        </p:nvSpPr>
        <p:spPr>
          <a:xfrm>
            <a:off x="3922776" y="3236976"/>
            <a:ext cx="1874520" cy="384048"/>
          </a:xfrm>
          <a:prstGeom prst="rect">
            <a:avLst/>
          </a:prstGeom>
          <a:noFill/>
          <a:ln/>
        </p:spPr>
        <p:txBody>
          <a:bodyPr wrap="square" rtlCol="0" anchor="ctr"/>
          <a:lstStyle/>
          <a:p>
            <a:pPr indent="0" marL="0">
              <a:buNone/>
            </a:pPr>
            <a:r>
              <a:rPr lang="en-US" sz="1150" b="1" dirty="0">
                <a:solidFill>
                  <a:srgbClr val="1B3A5C"/>
                </a:solidFill>
                <a:latin typeface="Calibri" pitchFamily="34" charset="0"/>
                <a:ea typeface="Calibri" pitchFamily="34" charset="-122"/>
                <a:cs typeface="Calibri" pitchFamily="34" charset="-120"/>
              </a:rPr>
              <a:t>Architecture microsvcs</a:t>
            </a:r>
            <a:endParaRPr lang="en-US" sz="1150" dirty="0"/>
          </a:p>
        </p:txBody>
      </p:sp>
      <p:sp>
        <p:nvSpPr>
          <p:cNvPr id="39" name="Shape 32"/>
          <p:cNvSpPr/>
          <p:nvPr/>
        </p:nvSpPr>
        <p:spPr>
          <a:xfrm>
            <a:off x="3300984" y="3794760"/>
            <a:ext cx="2487168" cy="36576"/>
          </a:xfrm>
          <a:prstGeom prst="rect">
            <a:avLst/>
          </a:prstGeom>
          <a:solidFill>
            <a:srgbClr val="E2E8F0"/>
          </a:solidFill>
          <a:ln/>
        </p:spPr>
      </p:sp>
      <p:sp>
        <p:nvSpPr>
          <p:cNvPr id="40" name="Text 33"/>
          <p:cNvSpPr/>
          <p:nvPr/>
        </p:nvSpPr>
        <p:spPr>
          <a:xfrm>
            <a:off x="3300984" y="3895344"/>
            <a:ext cx="2487168" cy="7132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4 modules indépendants : Users · Recommandations · Progression · Social.</a:t>
            </a:r>
            <a:endParaRPr lang="en-US" sz="950" dirty="0"/>
          </a:p>
        </p:txBody>
      </p:sp>
      <p:sp>
        <p:nvSpPr>
          <p:cNvPr id="41" name="Shape 34"/>
          <p:cNvSpPr/>
          <p:nvPr/>
        </p:nvSpPr>
        <p:spPr>
          <a:xfrm>
            <a:off x="6071616" y="3090672"/>
            <a:ext cx="2743200" cy="1627632"/>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2" name="Shape 35"/>
          <p:cNvSpPr/>
          <p:nvPr/>
        </p:nvSpPr>
        <p:spPr>
          <a:xfrm>
            <a:off x="6071616" y="3090672"/>
            <a:ext cx="2743200" cy="64008"/>
          </a:xfrm>
          <a:prstGeom prst="rect">
            <a:avLst/>
          </a:prstGeom>
          <a:solidFill>
            <a:srgbClr val="2B5482"/>
          </a:solidFill>
          <a:ln/>
        </p:spPr>
      </p:sp>
      <p:sp>
        <p:nvSpPr>
          <p:cNvPr id="43" name="Shape 36"/>
          <p:cNvSpPr/>
          <p:nvPr/>
        </p:nvSpPr>
        <p:spPr>
          <a:xfrm>
            <a:off x="6217920" y="3255264"/>
            <a:ext cx="475488" cy="475488"/>
          </a:xfrm>
          <a:prstGeom prst="ellipse">
            <a:avLst/>
          </a:prstGeom>
          <a:solidFill>
            <a:srgbClr val="2B5482"/>
          </a:solidFill>
          <a:ln w="12700">
            <a:solidFill>
              <a:srgbClr val="2B5482"/>
            </a:solidFill>
            <a:prstDash val="solid"/>
          </a:ln>
        </p:spPr>
      </p:sp>
      <p:pic>
        <p:nvPicPr>
          <p:cNvPr id="44" name="Image 5" descr="preencoded.png">    </p:cNvPr>
          <p:cNvPicPr>
            <a:picLocks noChangeAspect="1"/>
          </p:cNvPicPr>
          <p:nvPr/>
        </p:nvPicPr>
        <p:blipFill>
          <a:blip r:embed="rId6"/>
          <a:stretch>
            <a:fillRect/>
          </a:stretch>
        </p:blipFill>
        <p:spPr>
          <a:xfrm>
            <a:off x="6263640" y="3300984"/>
            <a:ext cx="365760" cy="365760"/>
          </a:xfrm>
          <a:prstGeom prst="rect">
            <a:avLst/>
          </a:prstGeom>
        </p:spPr>
      </p:pic>
      <p:sp>
        <p:nvSpPr>
          <p:cNvPr id="45" name="Text 37"/>
          <p:cNvSpPr/>
          <p:nvPr/>
        </p:nvSpPr>
        <p:spPr>
          <a:xfrm>
            <a:off x="6821424" y="3236976"/>
            <a:ext cx="1874520" cy="384048"/>
          </a:xfrm>
          <a:prstGeom prst="rect">
            <a:avLst/>
          </a:prstGeom>
          <a:noFill/>
          <a:ln/>
        </p:spPr>
        <p:txBody>
          <a:bodyPr wrap="square" rtlCol="0" anchor="ctr"/>
          <a:lstStyle/>
          <a:p>
            <a:pPr indent="0" marL="0">
              <a:buNone/>
            </a:pPr>
            <a:r>
              <a:rPr lang="en-US" sz="1150" b="1" dirty="0">
                <a:solidFill>
                  <a:srgbClr val="1B3A5C"/>
                </a:solidFill>
                <a:latin typeface="Calibri" pitchFamily="34" charset="0"/>
                <a:ea typeface="Calibri" pitchFamily="34" charset="-122"/>
                <a:cs typeface="Calibri" pitchFamily="34" charset="-120"/>
              </a:rPr>
              <a:t>Cloud &amp; DevOps</a:t>
            </a:r>
            <a:endParaRPr lang="en-US" sz="1150" dirty="0"/>
          </a:p>
        </p:txBody>
      </p:sp>
      <p:sp>
        <p:nvSpPr>
          <p:cNvPr id="46" name="Shape 38"/>
          <p:cNvSpPr/>
          <p:nvPr/>
        </p:nvSpPr>
        <p:spPr>
          <a:xfrm>
            <a:off x="6199632" y="3794760"/>
            <a:ext cx="2487168" cy="36576"/>
          </a:xfrm>
          <a:prstGeom prst="rect">
            <a:avLst/>
          </a:prstGeom>
          <a:solidFill>
            <a:srgbClr val="E2E8F0"/>
          </a:solidFill>
          <a:ln/>
        </p:spPr>
      </p:sp>
      <p:sp>
        <p:nvSpPr>
          <p:cNvPr id="47" name="Text 39"/>
          <p:cNvSpPr/>
          <p:nvPr/>
        </p:nvSpPr>
        <p:spPr>
          <a:xfrm>
            <a:off x="6199632" y="3895344"/>
            <a:ext cx="2487168" cy="713232"/>
          </a:xfrm>
          <a:prstGeom prst="rect">
            <a:avLst/>
          </a:prstGeom>
          <a:noFill/>
          <a:ln/>
        </p:spPr>
        <p:txBody>
          <a:bodyPr wrap="square" rtlCol="0" anchor="ctr"/>
          <a:lstStyle/>
          <a:p>
            <a:pPr indent="0" marL="0">
              <a:buNone/>
            </a:pPr>
            <a:r>
              <a:rPr lang="en-US" sz="950" dirty="0">
                <a:solidFill>
                  <a:srgbClr val="94A3B8"/>
                </a:solidFill>
                <a:latin typeface="Calibri" pitchFamily="34" charset="0"/>
                <a:ea typeface="Calibri" pitchFamily="34" charset="-122"/>
                <a:cs typeface="Calibri" pitchFamily="34" charset="-120"/>
              </a:rPr>
              <a:t>AWS/Azure · Docker · Kubernetes · CI/CD · Snowflake · Redis pour la performance.</a:t>
            </a:r>
            <a:endParaRPr lang="en-US" sz="950" dirty="0"/>
          </a:p>
        </p:txBody>
      </p:sp>
      <p:sp>
        <p:nvSpPr>
          <p:cNvPr id="48" name="Shape 40"/>
          <p:cNvSpPr/>
          <p:nvPr/>
        </p:nvSpPr>
        <p:spPr>
          <a:xfrm>
            <a:off x="0" y="4956048"/>
            <a:ext cx="9144000" cy="187452"/>
          </a:xfrm>
          <a:prstGeom prst="rect">
            <a:avLst/>
          </a:prstGeom>
          <a:solidFill>
            <a:srgbClr val="E2E8F0"/>
          </a:solidFill>
          <a:ln/>
        </p:spPr>
      </p:sp>
      <p:sp>
        <p:nvSpPr>
          <p:cNvPr id="49" name="Text 41"/>
          <p:cNvSpPr/>
          <p:nvPr/>
        </p:nvSpPr>
        <p:spPr>
          <a:xfrm>
            <a:off x="365760" y="4969764"/>
            <a:ext cx="6400800" cy="164592"/>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Plateforme Éducative Intelligente — IA &amp; Microservices</a:t>
            </a:r>
            <a:endParaRPr lang="en-US" sz="850" dirty="0"/>
          </a:p>
        </p:txBody>
      </p:sp>
      <p:sp>
        <p:nvSpPr>
          <p:cNvPr id="50" name="Text 42"/>
          <p:cNvSpPr/>
          <p:nvPr/>
        </p:nvSpPr>
        <p:spPr>
          <a:xfrm>
            <a:off x="0" y="4969764"/>
            <a:ext cx="8778240" cy="164592"/>
          </a:xfrm>
          <a:prstGeom prst="rect">
            <a:avLst/>
          </a:prstGeom>
          <a:noFill/>
          <a:ln/>
        </p:spPr>
        <p:txBody>
          <a:bodyPr wrap="square"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03 / 12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B3A5C"/>
          </a:solidFill>
          <a:ln/>
        </p:spPr>
      </p:sp>
      <p:sp>
        <p:nvSpPr>
          <p:cNvPr id="3" name="Shape 1"/>
          <p:cNvSpPr/>
          <p:nvPr/>
        </p:nvSpPr>
        <p:spPr>
          <a:xfrm>
            <a:off x="0" y="1161288"/>
            <a:ext cx="9144000" cy="54864"/>
          </a:xfrm>
          <a:prstGeom prst="rect">
            <a:avLst/>
          </a:prstGeom>
          <a:solidFill>
            <a:srgbClr val="2E74B5"/>
          </a:solidFill>
          <a:ln/>
        </p:spPr>
      </p:sp>
      <p:sp>
        <p:nvSpPr>
          <p:cNvPr id="4" name="Text 2"/>
          <p:cNvSpPr/>
          <p:nvPr/>
        </p:nvSpPr>
        <p:spPr>
          <a:xfrm>
            <a:off x="365760" y="137160"/>
            <a:ext cx="841248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STACK TECHNIQUE</a:t>
            </a:r>
            <a:endParaRPr lang="en-US" sz="2400" dirty="0"/>
          </a:p>
        </p:txBody>
      </p:sp>
      <p:sp>
        <p:nvSpPr>
          <p:cNvPr id="5" name="Text 3"/>
          <p:cNvSpPr/>
          <p:nvPr/>
        </p:nvSpPr>
        <p:spPr>
          <a:xfrm>
            <a:off x="365760" y="713232"/>
            <a:ext cx="8412480" cy="36576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Architecture full-stack moderne orientée microservices et cloud-native</a:t>
            </a:r>
            <a:endParaRPr lang="en-US" sz="1200" dirty="0"/>
          </a:p>
        </p:txBody>
      </p:sp>
      <p:sp>
        <p:nvSpPr>
          <p:cNvPr id="6" name="Shape 4"/>
          <p:cNvSpPr/>
          <p:nvPr/>
        </p:nvSpPr>
        <p:spPr>
          <a:xfrm>
            <a:off x="274320" y="1344168"/>
            <a:ext cx="859536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274320" y="1344168"/>
            <a:ext cx="64008" cy="594360"/>
          </a:xfrm>
          <a:prstGeom prst="rect">
            <a:avLst/>
          </a:prstGeom>
          <a:solidFill>
            <a:srgbClr val="2E74B5"/>
          </a:solidFill>
          <a:ln/>
        </p:spPr>
      </p:sp>
      <p:sp>
        <p:nvSpPr>
          <p:cNvPr id="8" name="Shape 6"/>
          <p:cNvSpPr/>
          <p:nvPr/>
        </p:nvSpPr>
        <p:spPr>
          <a:xfrm>
            <a:off x="338328" y="1344168"/>
            <a:ext cx="960120" cy="594360"/>
          </a:xfrm>
          <a:prstGeom prst="rect">
            <a:avLst/>
          </a:prstGeom>
          <a:solidFill>
            <a:srgbClr val="2E74B5">
              <a:alpha val="10000"/>
            </a:srgbClr>
          </a:solidFill>
          <a:ln/>
        </p:spPr>
      </p:sp>
      <p:pic>
        <p:nvPicPr>
          <p:cNvPr id="9" name="Image 0" descr="preencoded.png">    </p:cNvPr>
          <p:cNvPicPr>
            <a:picLocks noChangeAspect="1"/>
          </p:cNvPicPr>
          <p:nvPr/>
        </p:nvPicPr>
        <p:blipFill>
          <a:blip r:embed="rId1"/>
          <a:stretch>
            <a:fillRect/>
          </a:stretch>
        </p:blipFill>
        <p:spPr>
          <a:xfrm>
            <a:off x="548640" y="1463040"/>
            <a:ext cx="347472" cy="347472"/>
          </a:xfrm>
          <a:prstGeom prst="rect">
            <a:avLst/>
          </a:prstGeom>
        </p:spPr>
      </p:pic>
      <p:sp>
        <p:nvSpPr>
          <p:cNvPr id="10" name="Shape 7"/>
          <p:cNvSpPr/>
          <p:nvPr/>
        </p:nvSpPr>
        <p:spPr>
          <a:xfrm>
            <a:off x="1371600" y="1499616"/>
            <a:ext cx="1554480" cy="274320"/>
          </a:xfrm>
          <a:prstGeom prst="rect">
            <a:avLst/>
          </a:prstGeom>
          <a:solidFill>
            <a:srgbClr val="2E74B5"/>
          </a:solidFill>
          <a:ln/>
        </p:spPr>
      </p:sp>
      <p:sp>
        <p:nvSpPr>
          <p:cNvPr id="11" name="Text 8"/>
          <p:cNvSpPr/>
          <p:nvPr/>
        </p:nvSpPr>
        <p:spPr>
          <a:xfrm>
            <a:off x="1371600" y="1499616"/>
            <a:ext cx="1554480" cy="274320"/>
          </a:xfrm>
          <a:prstGeom prst="rect">
            <a:avLst/>
          </a:prstGeom>
          <a:noFill/>
          <a:ln/>
        </p:spPr>
        <p:txBody>
          <a:bodyPr wrap="square"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FRONTEND</a:t>
            </a:r>
            <a:endParaRPr lang="en-US" sz="900" dirty="0"/>
          </a:p>
        </p:txBody>
      </p:sp>
      <p:sp>
        <p:nvSpPr>
          <p:cNvPr id="12" name="Text 9"/>
          <p:cNvSpPr/>
          <p:nvPr/>
        </p:nvSpPr>
        <p:spPr>
          <a:xfrm>
            <a:off x="3017520" y="1508760"/>
            <a:ext cx="5715000" cy="274320"/>
          </a:xfrm>
          <a:prstGeom prst="rect">
            <a:avLst/>
          </a:prstGeom>
          <a:noFill/>
          <a:ln/>
        </p:spPr>
        <p:txBody>
          <a:bodyPr wrap="square" rtlCol="0" anchor="ctr"/>
          <a:lstStyle/>
          <a:p>
            <a:pPr indent="0" marL="0">
              <a:buNone/>
            </a:pPr>
            <a:r>
              <a:rPr lang="en-US" sz="1150" dirty="0">
                <a:solidFill>
                  <a:srgbClr val="1E293B"/>
                </a:solidFill>
                <a:latin typeface="Calibri" pitchFamily="34" charset="0"/>
                <a:ea typeface="Calibri" pitchFamily="34" charset="-122"/>
                <a:cs typeface="Calibri" pitchFamily="34" charset="-120"/>
              </a:rPr>
              <a:t>React.js (Web)  ·  React Native / Flet (Mobile)</a:t>
            </a:r>
            <a:endParaRPr lang="en-US" sz="1150" dirty="0"/>
          </a:p>
        </p:txBody>
      </p:sp>
      <p:sp>
        <p:nvSpPr>
          <p:cNvPr id="13" name="Shape 10"/>
          <p:cNvSpPr/>
          <p:nvPr/>
        </p:nvSpPr>
        <p:spPr>
          <a:xfrm>
            <a:off x="274320" y="2039112"/>
            <a:ext cx="859536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1"/>
          <p:cNvSpPr/>
          <p:nvPr/>
        </p:nvSpPr>
        <p:spPr>
          <a:xfrm>
            <a:off x="274320" y="2039112"/>
            <a:ext cx="64008" cy="594360"/>
          </a:xfrm>
          <a:prstGeom prst="rect">
            <a:avLst/>
          </a:prstGeom>
          <a:solidFill>
            <a:srgbClr val="2B5482"/>
          </a:solidFill>
          <a:ln/>
        </p:spPr>
      </p:sp>
      <p:sp>
        <p:nvSpPr>
          <p:cNvPr id="15" name="Shape 12"/>
          <p:cNvSpPr/>
          <p:nvPr/>
        </p:nvSpPr>
        <p:spPr>
          <a:xfrm>
            <a:off x="338328" y="2039112"/>
            <a:ext cx="960120" cy="594360"/>
          </a:xfrm>
          <a:prstGeom prst="rect">
            <a:avLst/>
          </a:prstGeom>
          <a:solidFill>
            <a:srgbClr val="2B5482">
              <a:alpha val="10000"/>
            </a:srgbClr>
          </a:solidFill>
          <a:ln/>
        </p:spPr>
      </p:sp>
      <p:pic>
        <p:nvPicPr>
          <p:cNvPr id="16" name="Image 1" descr="preencoded.png">    </p:cNvPr>
          <p:cNvPicPr>
            <a:picLocks noChangeAspect="1"/>
          </p:cNvPicPr>
          <p:nvPr/>
        </p:nvPicPr>
        <p:blipFill>
          <a:blip r:embed="rId2"/>
          <a:stretch>
            <a:fillRect/>
          </a:stretch>
        </p:blipFill>
        <p:spPr>
          <a:xfrm>
            <a:off x="548640" y="2157984"/>
            <a:ext cx="347472" cy="347472"/>
          </a:xfrm>
          <a:prstGeom prst="rect">
            <a:avLst/>
          </a:prstGeom>
        </p:spPr>
      </p:pic>
      <p:sp>
        <p:nvSpPr>
          <p:cNvPr id="17" name="Shape 13"/>
          <p:cNvSpPr/>
          <p:nvPr/>
        </p:nvSpPr>
        <p:spPr>
          <a:xfrm>
            <a:off x="1371600" y="2194560"/>
            <a:ext cx="1554480" cy="274320"/>
          </a:xfrm>
          <a:prstGeom prst="rect">
            <a:avLst/>
          </a:prstGeom>
          <a:solidFill>
            <a:srgbClr val="2B5482"/>
          </a:solidFill>
          <a:ln/>
        </p:spPr>
      </p:sp>
      <p:sp>
        <p:nvSpPr>
          <p:cNvPr id="18" name="Text 14"/>
          <p:cNvSpPr/>
          <p:nvPr/>
        </p:nvSpPr>
        <p:spPr>
          <a:xfrm>
            <a:off x="1371600" y="2194560"/>
            <a:ext cx="1554480" cy="274320"/>
          </a:xfrm>
          <a:prstGeom prst="rect">
            <a:avLst/>
          </a:prstGeom>
          <a:noFill/>
          <a:ln/>
        </p:spPr>
        <p:txBody>
          <a:bodyPr wrap="square"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BACKEND API</a:t>
            </a:r>
            <a:endParaRPr lang="en-US" sz="900" dirty="0"/>
          </a:p>
        </p:txBody>
      </p:sp>
      <p:sp>
        <p:nvSpPr>
          <p:cNvPr id="19" name="Text 15"/>
          <p:cNvSpPr/>
          <p:nvPr/>
        </p:nvSpPr>
        <p:spPr>
          <a:xfrm>
            <a:off x="3017520" y="2203704"/>
            <a:ext cx="5715000" cy="274320"/>
          </a:xfrm>
          <a:prstGeom prst="rect">
            <a:avLst/>
          </a:prstGeom>
          <a:noFill/>
          <a:ln/>
        </p:spPr>
        <p:txBody>
          <a:bodyPr wrap="square" rtlCol="0" anchor="ctr"/>
          <a:lstStyle/>
          <a:p>
            <a:pPr indent="0" marL="0">
              <a:buNone/>
            </a:pPr>
            <a:r>
              <a:rPr lang="en-US" sz="1150" dirty="0">
                <a:solidFill>
                  <a:srgbClr val="1E293B"/>
                </a:solidFill>
                <a:latin typeface="Calibri" pitchFamily="34" charset="0"/>
                <a:ea typeface="Calibri" pitchFamily="34" charset="-122"/>
                <a:cs typeface="Calibri" pitchFamily="34" charset="-120"/>
              </a:rPr>
              <a:t>Python FastAPI / Django  ·  Node.js  ·  API REST</a:t>
            </a:r>
            <a:endParaRPr lang="en-US" sz="1150" dirty="0"/>
          </a:p>
        </p:txBody>
      </p:sp>
      <p:sp>
        <p:nvSpPr>
          <p:cNvPr id="20" name="Shape 16"/>
          <p:cNvSpPr/>
          <p:nvPr/>
        </p:nvSpPr>
        <p:spPr>
          <a:xfrm>
            <a:off x="274320" y="2734056"/>
            <a:ext cx="859536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1" name="Shape 17"/>
          <p:cNvSpPr/>
          <p:nvPr/>
        </p:nvSpPr>
        <p:spPr>
          <a:xfrm>
            <a:off x="274320" y="2734056"/>
            <a:ext cx="64008" cy="594360"/>
          </a:xfrm>
          <a:prstGeom prst="rect">
            <a:avLst/>
          </a:prstGeom>
          <a:solidFill>
            <a:srgbClr val="2E74B5"/>
          </a:solidFill>
          <a:ln/>
        </p:spPr>
      </p:sp>
      <p:sp>
        <p:nvSpPr>
          <p:cNvPr id="22" name="Shape 18"/>
          <p:cNvSpPr/>
          <p:nvPr/>
        </p:nvSpPr>
        <p:spPr>
          <a:xfrm>
            <a:off x="338328" y="2734056"/>
            <a:ext cx="960120" cy="594360"/>
          </a:xfrm>
          <a:prstGeom prst="rect">
            <a:avLst/>
          </a:prstGeom>
          <a:solidFill>
            <a:srgbClr val="2E74B5">
              <a:alpha val="10000"/>
            </a:srgbClr>
          </a:solidFill>
          <a:ln/>
        </p:spPr>
      </p:sp>
      <p:pic>
        <p:nvPicPr>
          <p:cNvPr id="23" name="Image 2" descr="preencoded.png">    </p:cNvPr>
          <p:cNvPicPr>
            <a:picLocks noChangeAspect="1"/>
          </p:cNvPicPr>
          <p:nvPr/>
        </p:nvPicPr>
        <p:blipFill>
          <a:blip r:embed="rId3"/>
          <a:stretch>
            <a:fillRect/>
          </a:stretch>
        </p:blipFill>
        <p:spPr>
          <a:xfrm>
            <a:off x="548640" y="2852928"/>
            <a:ext cx="347472" cy="347472"/>
          </a:xfrm>
          <a:prstGeom prst="rect">
            <a:avLst/>
          </a:prstGeom>
        </p:spPr>
      </p:pic>
      <p:sp>
        <p:nvSpPr>
          <p:cNvPr id="24" name="Shape 19"/>
          <p:cNvSpPr/>
          <p:nvPr/>
        </p:nvSpPr>
        <p:spPr>
          <a:xfrm>
            <a:off x="1371600" y="2889504"/>
            <a:ext cx="1554480" cy="274320"/>
          </a:xfrm>
          <a:prstGeom prst="rect">
            <a:avLst/>
          </a:prstGeom>
          <a:solidFill>
            <a:srgbClr val="2E74B5"/>
          </a:solidFill>
          <a:ln/>
        </p:spPr>
      </p:sp>
      <p:sp>
        <p:nvSpPr>
          <p:cNvPr id="25" name="Text 20"/>
          <p:cNvSpPr/>
          <p:nvPr/>
        </p:nvSpPr>
        <p:spPr>
          <a:xfrm>
            <a:off x="1371600" y="2889504"/>
            <a:ext cx="1554480" cy="274320"/>
          </a:xfrm>
          <a:prstGeom prst="rect">
            <a:avLst/>
          </a:prstGeom>
          <a:noFill/>
          <a:ln/>
        </p:spPr>
        <p:txBody>
          <a:bodyPr wrap="square"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IA / ML ENGINE</a:t>
            </a:r>
            <a:endParaRPr lang="en-US" sz="900" dirty="0"/>
          </a:p>
        </p:txBody>
      </p:sp>
      <p:sp>
        <p:nvSpPr>
          <p:cNvPr id="26" name="Text 21"/>
          <p:cNvSpPr/>
          <p:nvPr/>
        </p:nvSpPr>
        <p:spPr>
          <a:xfrm>
            <a:off x="3017520" y="2898648"/>
            <a:ext cx="5715000" cy="274320"/>
          </a:xfrm>
          <a:prstGeom prst="rect">
            <a:avLst/>
          </a:prstGeom>
          <a:noFill/>
          <a:ln/>
        </p:spPr>
        <p:txBody>
          <a:bodyPr wrap="square" rtlCol="0" anchor="ctr"/>
          <a:lstStyle/>
          <a:p>
            <a:pPr indent="0" marL="0">
              <a:buNone/>
            </a:pPr>
            <a:r>
              <a:rPr lang="en-US" sz="1150" dirty="0">
                <a:solidFill>
                  <a:srgbClr val="1E293B"/>
                </a:solidFill>
                <a:latin typeface="Calibri" pitchFamily="34" charset="0"/>
                <a:ea typeface="Calibri" pitchFamily="34" charset="-122"/>
                <a:cs typeface="Calibri" pitchFamily="34" charset="-120"/>
              </a:rPr>
              <a:t>Collaborative Filtering  ·  Content-Based Filtering  ·  Scikit-learn / TensorFlow</a:t>
            </a:r>
            <a:endParaRPr lang="en-US" sz="1150" dirty="0"/>
          </a:p>
        </p:txBody>
      </p:sp>
      <p:sp>
        <p:nvSpPr>
          <p:cNvPr id="27" name="Shape 22"/>
          <p:cNvSpPr/>
          <p:nvPr/>
        </p:nvSpPr>
        <p:spPr>
          <a:xfrm>
            <a:off x="274320" y="3429000"/>
            <a:ext cx="859536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8" name="Shape 23"/>
          <p:cNvSpPr/>
          <p:nvPr/>
        </p:nvSpPr>
        <p:spPr>
          <a:xfrm>
            <a:off x="274320" y="3429000"/>
            <a:ext cx="64008" cy="594360"/>
          </a:xfrm>
          <a:prstGeom prst="rect">
            <a:avLst/>
          </a:prstGeom>
          <a:solidFill>
            <a:srgbClr val="2B5482"/>
          </a:solidFill>
          <a:ln/>
        </p:spPr>
      </p:sp>
      <p:sp>
        <p:nvSpPr>
          <p:cNvPr id="29" name="Shape 24"/>
          <p:cNvSpPr/>
          <p:nvPr/>
        </p:nvSpPr>
        <p:spPr>
          <a:xfrm>
            <a:off x="338328" y="3429000"/>
            <a:ext cx="960120" cy="594360"/>
          </a:xfrm>
          <a:prstGeom prst="rect">
            <a:avLst/>
          </a:prstGeom>
          <a:solidFill>
            <a:srgbClr val="2B5482">
              <a:alpha val="10000"/>
            </a:srgbClr>
          </a:solidFill>
          <a:ln/>
        </p:spPr>
      </p:sp>
      <p:pic>
        <p:nvPicPr>
          <p:cNvPr id="30" name="Image 3" descr="preencoded.png">    </p:cNvPr>
          <p:cNvPicPr>
            <a:picLocks noChangeAspect="1"/>
          </p:cNvPicPr>
          <p:nvPr/>
        </p:nvPicPr>
        <p:blipFill>
          <a:blip r:embed="rId4"/>
          <a:stretch>
            <a:fillRect/>
          </a:stretch>
        </p:blipFill>
        <p:spPr>
          <a:xfrm>
            <a:off x="548640" y="3547872"/>
            <a:ext cx="347472" cy="347472"/>
          </a:xfrm>
          <a:prstGeom prst="rect">
            <a:avLst/>
          </a:prstGeom>
        </p:spPr>
      </p:pic>
      <p:sp>
        <p:nvSpPr>
          <p:cNvPr id="31" name="Shape 25"/>
          <p:cNvSpPr/>
          <p:nvPr/>
        </p:nvSpPr>
        <p:spPr>
          <a:xfrm>
            <a:off x="1371600" y="3584448"/>
            <a:ext cx="1554480" cy="274320"/>
          </a:xfrm>
          <a:prstGeom prst="rect">
            <a:avLst/>
          </a:prstGeom>
          <a:solidFill>
            <a:srgbClr val="2B5482"/>
          </a:solidFill>
          <a:ln/>
        </p:spPr>
      </p:sp>
      <p:sp>
        <p:nvSpPr>
          <p:cNvPr id="32" name="Text 26"/>
          <p:cNvSpPr/>
          <p:nvPr/>
        </p:nvSpPr>
        <p:spPr>
          <a:xfrm>
            <a:off x="1371600" y="3584448"/>
            <a:ext cx="1554480" cy="274320"/>
          </a:xfrm>
          <a:prstGeom prst="rect">
            <a:avLst/>
          </a:prstGeom>
          <a:noFill/>
          <a:ln/>
        </p:spPr>
        <p:txBody>
          <a:bodyPr wrap="square"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BASE DE DONNÉES</a:t>
            </a:r>
            <a:endParaRPr lang="en-US" sz="900" dirty="0"/>
          </a:p>
        </p:txBody>
      </p:sp>
      <p:sp>
        <p:nvSpPr>
          <p:cNvPr id="33" name="Text 27"/>
          <p:cNvSpPr/>
          <p:nvPr/>
        </p:nvSpPr>
        <p:spPr>
          <a:xfrm>
            <a:off x="3017520" y="3593592"/>
            <a:ext cx="5715000" cy="274320"/>
          </a:xfrm>
          <a:prstGeom prst="rect">
            <a:avLst/>
          </a:prstGeom>
          <a:noFill/>
          <a:ln/>
        </p:spPr>
        <p:txBody>
          <a:bodyPr wrap="square" rtlCol="0" anchor="ctr"/>
          <a:lstStyle/>
          <a:p>
            <a:pPr indent="0" marL="0">
              <a:buNone/>
            </a:pPr>
            <a:r>
              <a:rPr lang="en-US" sz="1150" dirty="0">
                <a:solidFill>
                  <a:srgbClr val="1E293B"/>
                </a:solidFill>
                <a:latin typeface="Calibri" pitchFamily="34" charset="0"/>
                <a:ea typeface="Calibri" pitchFamily="34" charset="-122"/>
                <a:cs typeface="Calibri" pitchFamily="34" charset="-120"/>
              </a:rPr>
              <a:t>PostgreSQL (utilisateurs &amp; scores)  ·  MongoDB (ressources)  ·  Redis (cache)</a:t>
            </a:r>
            <a:endParaRPr lang="en-US" sz="1150" dirty="0"/>
          </a:p>
        </p:txBody>
      </p:sp>
      <p:sp>
        <p:nvSpPr>
          <p:cNvPr id="34" name="Shape 28"/>
          <p:cNvSpPr/>
          <p:nvPr/>
        </p:nvSpPr>
        <p:spPr>
          <a:xfrm>
            <a:off x="274320" y="4123944"/>
            <a:ext cx="8595360" cy="59436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5" name="Shape 29"/>
          <p:cNvSpPr/>
          <p:nvPr/>
        </p:nvSpPr>
        <p:spPr>
          <a:xfrm>
            <a:off x="274320" y="4123944"/>
            <a:ext cx="64008" cy="594360"/>
          </a:xfrm>
          <a:prstGeom prst="rect">
            <a:avLst/>
          </a:prstGeom>
          <a:solidFill>
            <a:srgbClr val="2E74B5"/>
          </a:solidFill>
          <a:ln/>
        </p:spPr>
      </p:sp>
      <p:sp>
        <p:nvSpPr>
          <p:cNvPr id="36" name="Shape 30"/>
          <p:cNvSpPr/>
          <p:nvPr/>
        </p:nvSpPr>
        <p:spPr>
          <a:xfrm>
            <a:off x="338328" y="4123944"/>
            <a:ext cx="960120" cy="594360"/>
          </a:xfrm>
          <a:prstGeom prst="rect">
            <a:avLst/>
          </a:prstGeom>
          <a:solidFill>
            <a:srgbClr val="2E74B5">
              <a:alpha val="10000"/>
            </a:srgbClr>
          </a:solidFill>
          <a:ln/>
        </p:spPr>
      </p:sp>
      <p:pic>
        <p:nvPicPr>
          <p:cNvPr id="37" name="Image 4" descr="preencoded.png">    </p:cNvPr>
          <p:cNvPicPr>
            <a:picLocks noChangeAspect="1"/>
          </p:cNvPicPr>
          <p:nvPr/>
        </p:nvPicPr>
        <p:blipFill>
          <a:blip r:embed="rId5"/>
          <a:stretch>
            <a:fillRect/>
          </a:stretch>
        </p:blipFill>
        <p:spPr>
          <a:xfrm>
            <a:off x="548640" y="4242816"/>
            <a:ext cx="347472" cy="347472"/>
          </a:xfrm>
          <a:prstGeom prst="rect">
            <a:avLst/>
          </a:prstGeom>
        </p:spPr>
      </p:pic>
      <p:sp>
        <p:nvSpPr>
          <p:cNvPr id="38" name="Shape 31"/>
          <p:cNvSpPr/>
          <p:nvPr/>
        </p:nvSpPr>
        <p:spPr>
          <a:xfrm>
            <a:off x="1371600" y="4279392"/>
            <a:ext cx="1554480" cy="274320"/>
          </a:xfrm>
          <a:prstGeom prst="rect">
            <a:avLst/>
          </a:prstGeom>
          <a:solidFill>
            <a:srgbClr val="2E74B5"/>
          </a:solidFill>
          <a:ln/>
        </p:spPr>
      </p:sp>
      <p:sp>
        <p:nvSpPr>
          <p:cNvPr id="39" name="Text 32"/>
          <p:cNvSpPr/>
          <p:nvPr/>
        </p:nvSpPr>
        <p:spPr>
          <a:xfrm>
            <a:off x="1371600" y="4279392"/>
            <a:ext cx="1554480" cy="274320"/>
          </a:xfrm>
          <a:prstGeom prst="rect">
            <a:avLst/>
          </a:prstGeom>
          <a:noFill/>
          <a:ln/>
        </p:spPr>
        <p:txBody>
          <a:bodyPr wrap="square"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CLOUD &amp; INFRA</a:t>
            </a:r>
            <a:endParaRPr lang="en-US" sz="900" dirty="0"/>
          </a:p>
        </p:txBody>
      </p:sp>
      <p:sp>
        <p:nvSpPr>
          <p:cNvPr id="40" name="Text 33"/>
          <p:cNvSpPr/>
          <p:nvPr/>
        </p:nvSpPr>
        <p:spPr>
          <a:xfrm>
            <a:off x="3017520" y="4288536"/>
            <a:ext cx="5715000" cy="274320"/>
          </a:xfrm>
          <a:prstGeom prst="rect">
            <a:avLst/>
          </a:prstGeom>
          <a:noFill/>
          <a:ln/>
        </p:spPr>
        <p:txBody>
          <a:bodyPr wrap="square"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AWS EC2 / S3 / RDS  ·  Azure App Services  ·  Snowflake  ·  Docker  ·  Kubernetes</a:t>
            </a:r>
            <a:endParaRPr lang="en-US" sz="1150" dirty="0"/>
          </a:p>
        </p:txBody>
      </p:sp>
      <p:sp>
        <p:nvSpPr>
          <p:cNvPr id="41" name="Shape 34"/>
          <p:cNvSpPr/>
          <p:nvPr/>
        </p:nvSpPr>
        <p:spPr>
          <a:xfrm>
            <a:off x="274320" y="4818888"/>
            <a:ext cx="8595360" cy="292608"/>
          </a:xfrm>
          <a:prstGeom prst="rect">
            <a:avLst/>
          </a:prstGeom>
          <a:solidFill>
            <a:srgbClr val="1B3A5C"/>
          </a:solidFill>
          <a:ln/>
        </p:spPr>
      </p:sp>
      <p:sp>
        <p:nvSpPr>
          <p:cNvPr id="42" name="Text 35"/>
          <p:cNvSpPr/>
          <p:nvPr/>
        </p:nvSpPr>
        <p:spPr>
          <a:xfrm>
            <a:off x="365760" y="4828032"/>
            <a:ext cx="8412480" cy="274320"/>
          </a:xfrm>
          <a:prstGeom prst="rect">
            <a:avLst/>
          </a:prstGeom>
          <a:noFill/>
          <a:ln/>
        </p:spPr>
        <p:txBody>
          <a:bodyPr wrap="square" rtlCol="0" anchor="ctr"/>
          <a:lstStyle/>
          <a:p>
            <a:pPr algn="ctr" indent="0" marL="0">
              <a:buNone/>
            </a:pPr>
            <a:r>
              <a:rPr lang="en-US" sz="1000" dirty="0">
                <a:solidFill>
                  <a:srgbClr val="B0C4D8"/>
                </a:solidFill>
                <a:latin typeface="Calibri" pitchFamily="34" charset="0"/>
                <a:ea typeface="Calibri" pitchFamily="34" charset="-122"/>
                <a:cs typeface="Calibri" pitchFamily="34" charset="-120"/>
              </a:rPr>
              <a:t>CI/CD : GitHub Actions / GitLab CI   ·   Versioning : GitHub / GitLab   ·   Autoscaling : Kubernetes HPA</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B3A5C"/>
          </a:solidFill>
          <a:ln/>
        </p:spPr>
      </p:sp>
      <p:sp>
        <p:nvSpPr>
          <p:cNvPr id="3" name="Shape 1"/>
          <p:cNvSpPr/>
          <p:nvPr/>
        </p:nvSpPr>
        <p:spPr>
          <a:xfrm>
            <a:off x="0" y="1161288"/>
            <a:ext cx="9144000" cy="54864"/>
          </a:xfrm>
          <a:prstGeom prst="rect">
            <a:avLst/>
          </a:prstGeom>
          <a:solidFill>
            <a:srgbClr val="2E74B5"/>
          </a:solidFill>
          <a:ln/>
        </p:spPr>
      </p:sp>
      <p:sp>
        <p:nvSpPr>
          <p:cNvPr id="4" name="Text 2"/>
          <p:cNvSpPr/>
          <p:nvPr/>
        </p:nvSpPr>
        <p:spPr>
          <a:xfrm>
            <a:off x="365760" y="137160"/>
            <a:ext cx="841248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DIAGRAMME DE CLASSES (UML)</a:t>
            </a:r>
            <a:endParaRPr lang="en-US" sz="2400" dirty="0"/>
          </a:p>
        </p:txBody>
      </p:sp>
      <p:sp>
        <p:nvSpPr>
          <p:cNvPr id="5" name="Text 3"/>
          <p:cNvSpPr/>
          <p:nvPr/>
        </p:nvSpPr>
        <p:spPr>
          <a:xfrm>
            <a:off x="365760" y="713232"/>
            <a:ext cx="8412480" cy="36576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Architecture orientée objet — Entités, attributs et méthodes du domaine éducatif</a:t>
            </a:r>
            <a:endParaRPr lang="en-US" sz="1200" dirty="0"/>
          </a:p>
        </p:txBody>
      </p:sp>
      <p:sp>
        <p:nvSpPr>
          <p:cNvPr id="6" name="Shape 4"/>
          <p:cNvSpPr/>
          <p:nvPr/>
        </p:nvSpPr>
        <p:spPr>
          <a:xfrm>
            <a:off x="274320" y="1298448"/>
            <a:ext cx="8595360" cy="3547872"/>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7" name="Image 0" descr="preencoded.png">    </p:cNvPr>
          <p:cNvPicPr>
            <a:picLocks noChangeAspect="1"/>
          </p:cNvPicPr>
          <p:nvPr/>
        </p:nvPicPr>
        <p:blipFill>
          <a:blip r:embed="rId1"/>
          <a:srcRect l="0" r="0" t="0" b="0"/>
          <a:stretch/>
        </p:blipFill>
        <p:spPr>
          <a:xfrm>
            <a:off x="365760" y="1353312"/>
            <a:ext cx="8412480" cy="3438144"/>
          </a:xfrm>
          <a:prstGeom prst="rect">
            <a:avLst/>
          </a:prstGeom>
        </p:spPr>
      </p:pic>
      <p:sp>
        <p:nvSpPr>
          <p:cNvPr id="8" name="Shape 5"/>
          <p:cNvSpPr/>
          <p:nvPr/>
        </p:nvSpPr>
        <p:spPr>
          <a:xfrm>
            <a:off x="0" y="4956048"/>
            <a:ext cx="9144000" cy="187452"/>
          </a:xfrm>
          <a:prstGeom prst="rect">
            <a:avLst/>
          </a:prstGeom>
          <a:solidFill>
            <a:srgbClr val="E2E8F0"/>
          </a:solidFill>
          <a:ln/>
        </p:spPr>
      </p:sp>
      <p:sp>
        <p:nvSpPr>
          <p:cNvPr id="9" name="Text 6"/>
          <p:cNvSpPr/>
          <p:nvPr/>
        </p:nvSpPr>
        <p:spPr>
          <a:xfrm>
            <a:off x="365760" y="4969764"/>
            <a:ext cx="6400800" cy="164592"/>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Plateforme Éducative Intelligente — IA &amp; Microservices</a:t>
            </a:r>
            <a:endParaRPr lang="en-US" sz="850" dirty="0"/>
          </a:p>
        </p:txBody>
      </p:sp>
      <p:sp>
        <p:nvSpPr>
          <p:cNvPr id="10" name="Text 7"/>
          <p:cNvSpPr/>
          <p:nvPr/>
        </p:nvSpPr>
        <p:spPr>
          <a:xfrm>
            <a:off x="0" y="4969764"/>
            <a:ext cx="8778240" cy="164592"/>
          </a:xfrm>
          <a:prstGeom prst="rect">
            <a:avLst/>
          </a:prstGeom>
          <a:noFill/>
          <a:ln/>
        </p:spPr>
        <p:txBody>
          <a:bodyPr wrap="square"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05 / 12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B3A5C"/>
          </a:solidFill>
          <a:ln/>
        </p:spPr>
      </p:sp>
      <p:sp>
        <p:nvSpPr>
          <p:cNvPr id="3" name="Shape 1"/>
          <p:cNvSpPr/>
          <p:nvPr/>
        </p:nvSpPr>
        <p:spPr>
          <a:xfrm>
            <a:off x="0" y="1161288"/>
            <a:ext cx="9144000" cy="54864"/>
          </a:xfrm>
          <a:prstGeom prst="rect">
            <a:avLst/>
          </a:prstGeom>
          <a:solidFill>
            <a:srgbClr val="2E74B5"/>
          </a:solidFill>
          <a:ln/>
        </p:spPr>
      </p:sp>
      <p:sp>
        <p:nvSpPr>
          <p:cNvPr id="4" name="Text 2"/>
          <p:cNvSpPr/>
          <p:nvPr/>
        </p:nvSpPr>
        <p:spPr>
          <a:xfrm>
            <a:off x="365760" y="137160"/>
            <a:ext cx="841248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BASE DE DONNÉES — VUE LOGIQUE (ER)</a:t>
            </a:r>
            <a:endParaRPr lang="en-US" sz="2400" dirty="0"/>
          </a:p>
        </p:txBody>
      </p:sp>
      <p:sp>
        <p:nvSpPr>
          <p:cNvPr id="5" name="Text 3"/>
          <p:cNvSpPr/>
          <p:nvPr/>
        </p:nvSpPr>
        <p:spPr>
          <a:xfrm>
            <a:off x="365760" y="713232"/>
            <a:ext cx="8412480" cy="36576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Entités et relations — Modèle conceptuel sans clés étrangères</a:t>
            </a:r>
            <a:endParaRPr lang="en-US" sz="1200" dirty="0"/>
          </a:p>
        </p:txBody>
      </p:sp>
      <p:sp>
        <p:nvSpPr>
          <p:cNvPr id="6" name="Shape 4"/>
          <p:cNvSpPr/>
          <p:nvPr/>
        </p:nvSpPr>
        <p:spPr>
          <a:xfrm>
            <a:off x="274320" y="1298448"/>
            <a:ext cx="5394960" cy="3547872"/>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7" name="Image 0" descr="preencoded.png">    </p:cNvPr>
          <p:cNvPicPr>
            <a:picLocks noChangeAspect="1"/>
          </p:cNvPicPr>
          <p:nvPr/>
        </p:nvPicPr>
        <p:blipFill>
          <a:blip r:embed="rId1"/>
          <a:srcRect l="0" r="0" t="0" b="0"/>
          <a:stretch/>
        </p:blipFill>
        <p:spPr>
          <a:xfrm>
            <a:off x="347472" y="1353312"/>
            <a:ext cx="5266944" cy="3438144"/>
          </a:xfrm>
          <a:prstGeom prst="rect">
            <a:avLst/>
          </a:prstGeom>
        </p:spPr>
      </p:pic>
      <p:sp>
        <p:nvSpPr>
          <p:cNvPr id="8" name="Shape 5"/>
          <p:cNvSpPr/>
          <p:nvPr/>
        </p:nvSpPr>
        <p:spPr>
          <a:xfrm>
            <a:off x="5897880" y="1298448"/>
            <a:ext cx="2971800" cy="3547872"/>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9" name="Shape 6"/>
          <p:cNvSpPr/>
          <p:nvPr/>
        </p:nvSpPr>
        <p:spPr>
          <a:xfrm>
            <a:off x="5897880" y="1298448"/>
            <a:ext cx="2971800" cy="475488"/>
          </a:xfrm>
          <a:prstGeom prst="rect">
            <a:avLst/>
          </a:prstGeom>
          <a:solidFill>
            <a:srgbClr val="1B3A5C"/>
          </a:solidFill>
          <a:ln/>
        </p:spPr>
      </p:sp>
      <p:sp>
        <p:nvSpPr>
          <p:cNvPr id="10" name="Text 7"/>
          <p:cNvSpPr/>
          <p:nvPr/>
        </p:nvSpPr>
        <p:spPr>
          <a:xfrm>
            <a:off x="5989320" y="1353312"/>
            <a:ext cx="2788920" cy="347472"/>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ENTITÉS PRINCIPALES</a:t>
            </a:r>
            <a:endParaRPr lang="en-US" sz="1100" dirty="0"/>
          </a:p>
        </p:txBody>
      </p:sp>
      <p:sp>
        <p:nvSpPr>
          <p:cNvPr id="11" name="Shape 8"/>
          <p:cNvSpPr/>
          <p:nvPr/>
        </p:nvSpPr>
        <p:spPr>
          <a:xfrm>
            <a:off x="5989320" y="1901952"/>
            <a:ext cx="2724912" cy="457200"/>
          </a:xfrm>
          <a:prstGeom prst="rect">
            <a:avLst/>
          </a:prstGeom>
          <a:solidFill>
            <a:srgbClr val="F0F3F7"/>
          </a:solidFill>
          <a:ln/>
        </p:spPr>
      </p:sp>
      <p:sp>
        <p:nvSpPr>
          <p:cNvPr id="12" name="Shape 9"/>
          <p:cNvSpPr/>
          <p:nvPr/>
        </p:nvSpPr>
        <p:spPr>
          <a:xfrm>
            <a:off x="5989320" y="1901952"/>
            <a:ext cx="54864" cy="457200"/>
          </a:xfrm>
          <a:prstGeom prst="rect">
            <a:avLst/>
          </a:prstGeom>
          <a:solidFill>
            <a:srgbClr val="2E74B5"/>
          </a:solidFill>
          <a:ln/>
        </p:spPr>
      </p:sp>
      <p:sp>
        <p:nvSpPr>
          <p:cNvPr id="13" name="Text 10"/>
          <p:cNvSpPr/>
          <p:nvPr/>
        </p:nvSpPr>
        <p:spPr>
          <a:xfrm>
            <a:off x="6126480" y="1920240"/>
            <a:ext cx="2468880" cy="219456"/>
          </a:xfrm>
          <a:prstGeom prst="rect">
            <a:avLst/>
          </a:prstGeom>
          <a:noFill/>
          <a:ln/>
        </p:spPr>
        <p:txBody>
          <a:bodyPr wrap="square"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Utilisateur</a:t>
            </a:r>
            <a:endParaRPr lang="en-US" sz="1100" dirty="0"/>
          </a:p>
        </p:txBody>
      </p:sp>
      <p:sp>
        <p:nvSpPr>
          <p:cNvPr id="14" name="Text 11"/>
          <p:cNvSpPr/>
          <p:nvPr/>
        </p:nvSpPr>
        <p:spPr>
          <a:xfrm>
            <a:off x="6126480" y="2139696"/>
            <a:ext cx="2468880" cy="18288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Id · Nom · Email · Rôle</a:t>
            </a:r>
            <a:endParaRPr lang="en-US" sz="900" dirty="0"/>
          </a:p>
        </p:txBody>
      </p:sp>
      <p:sp>
        <p:nvSpPr>
          <p:cNvPr id="15" name="Shape 12"/>
          <p:cNvSpPr/>
          <p:nvPr/>
        </p:nvSpPr>
        <p:spPr>
          <a:xfrm>
            <a:off x="5989320" y="2450592"/>
            <a:ext cx="2724912" cy="457200"/>
          </a:xfrm>
          <a:prstGeom prst="rect">
            <a:avLst/>
          </a:prstGeom>
          <a:solidFill>
            <a:srgbClr val="F0F3F7"/>
          </a:solidFill>
          <a:ln/>
        </p:spPr>
      </p:sp>
      <p:sp>
        <p:nvSpPr>
          <p:cNvPr id="16" name="Shape 13"/>
          <p:cNvSpPr/>
          <p:nvPr/>
        </p:nvSpPr>
        <p:spPr>
          <a:xfrm>
            <a:off x="5989320" y="2450592"/>
            <a:ext cx="54864" cy="457200"/>
          </a:xfrm>
          <a:prstGeom prst="rect">
            <a:avLst/>
          </a:prstGeom>
          <a:solidFill>
            <a:srgbClr val="2B5482"/>
          </a:solidFill>
          <a:ln/>
        </p:spPr>
      </p:sp>
      <p:sp>
        <p:nvSpPr>
          <p:cNvPr id="17" name="Text 14"/>
          <p:cNvSpPr/>
          <p:nvPr/>
        </p:nvSpPr>
        <p:spPr>
          <a:xfrm>
            <a:off x="6126480" y="2468880"/>
            <a:ext cx="2468880" cy="219456"/>
          </a:xfrm>
          <a:prstGeom prst="rect">
            <a:avLst/>
          </a:prstGeom>
          <a:noFill/>
          <a:ln/>
        </p:spPr>
        <p:txBody>
          <a:bodyPr wrap="square"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Cours</a:t>
            </a:r>
            <a:endParaRPr lang="en-US" sz="1100" dirty="0"/>
          </a:p>
        </p:txBody>
      </p:sp>
      <p:sp>
        <p:nvSpPr>
          <p:cNvPr id="18" name="Text 15"/>
          <p:cNvSpPr/>
          <p:nvPr/>
        </p:nvSpPr>
        <p:spPr>
          <a:xfrm>
            <a:off x="6126480" y="2688336"/>
            <a:ext cx="2468880" cy="18288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IdCours · Titre · Description</a:t>
            </a:r>
            <a:endParaRPr lang="en-US" sz="900" dirty="0"/>
          </a:p>
        </p:txBody>
      </p:sp>
      <p:sp>
        <p:nvSpPr>
          <p:cNvPr id="19" name="Shape 16"/>
          <p:cNvSpPr/>
          <p:nvPr/>
        </p:nvSpPr>
        <p:spPr>
          <a:xfrm>
            <a:off x="5989320" y="2999232"/>
            <a:ext cx="2724912" cy="457200"/>
          </a:xfrm>
          <a:prstGeom prst="rect">
            <a:avLst/>
          </a:prstGeom>
          <a:solidFill>
            <a:srgbClr val="F0F3F7"/>
          </a:solidFill>
          <a:ln/>
        </p:spPr>
      </p:sp>
      <p:sp>
        <p:nvSpPr>
          <p:cNvPr id="20" name="Shape 17"/>
          <p:cNvSpPr/>
          <p:nvPr/>
        </p:nvSpPr>
        <p:spPr>
          <a:xfrm>
            <a:off x="5989320" y="2999232"/>
            <a:ext cx="54864" cy="457200"/>
          </a:xfrm>
          <a:prstGeom prst="rect">
            <a:avLst/>
          </a:prstGeom>
          <a:solidFill>
            <a:srgbClr val="2E74B5"/>
          </a:solidFill>
          <a:ln/>
        </p:spPr>
      </p:sp>
      <p:sp>
        <p:nvSpPr>
          <p:cNvPr id="21" name="Text 18"/>
          <p:cNvSpPr/>
          <p:nvPr/>
        </p:nvSpPr>
        <p:spPr>
          <a:xfrm>
            <a:off x="6126480" y="3017520"/>
            <a:ext cx="2468880" cy="219456"/>
          </a:xfrm>
          <a:prstGeom prst="rect">
            <a:avLst/>
          </a:prstGeom>
          <a:noFill/>
          <a:ln/>
        </p:spPr>
        <p:txBody>
          <a:bodyPr wrap="square"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Module</a:t>
            </a:r>
            <a:endParaRPr lang="en-US" sz="1100" dirty="0"/>
          </a:p>
        </p:txBody>
      </p:sp>
      <p:sp>
        <p:nvSpPr>
          <p:cNvPr id="22" name="Text 19"/>
          <p:cNvSpPr/>
          <p:nvPr/>
        </p:nvSpPr>
        <p:spPr>
          <a:xfrm>
            <a:off x="6126480" y="3236976"/>
            <a:ext cx="2468880" cy="18288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IdModule · Titre · IdCours</a:t>
            </a:r>
            <a:endParaRPr lang="en-US" sz="900" dirty="0"/>
          </a:p>
        </p:txBody>
      </p:sp>
      <p:sp>
        <p:nvSpPr>
          <p:cNvPr id="23" name="Shape 20"/>
          <p:cNvSpPr/>
          <p:nvPr/>
        </p:nvSpPr>
        <p:spPr>
          <a:xfrm>
            <a:off x="5989320" y="3547872"/>
            <a:ext cx="2724912" cy="457200"/>
          </a:xfrm>
          <a:prstGeom prst="rect">
            <a:avLst/>
          </a:prstGeom>
          <a:solidFill>
            <a:srgbClr val="F0F3F7"/>
          </a:solidFill>
          <a:ln/>
        </p:spPr>
      </p:sp>
      <p:sp>
        <p:nvSpPr>
          <p:cNvPr id="24" name="Shape 21"/>
          <p:cNvSpPr/>
          <p:nvPr/>
        </p:nvSpPr>
        <p:spPr>
          <a:xfrm>
            <a:off x="5989320" y="3547872"/>
            <a:ext cx="54864" cy="457200"/>
          </a:xfrm>
          <a:prstGeom prst="rect">
            <a:avLst/>
          </a:prstGeom>
          <a:solidFill>
            <a:srgbClr val="2B5482"/>
          </a:solidFill>
          <a:ln/>
        </p:spPr>
      </p:sp>
      <p:sp>
        <p:nvSpPr>
          <p:cNvPr id="25" name="Text 22"/>
          <p:cNvSpPr/>
          <p:nvPr/>
        </p:nvSpPr>
        <p:spPr>
          <a:xfrm>
            <a:off x="6126480" y="3566160"/>
            <a:ext cx="2468880" cy="219456"/>
          </a:xfrm>
          <a:prstGeom prst="rect">
            <a:avLst/>
          </a:prstGeom>
          <a:noFill/>
          <a:ln/>
        </p:spPr>
        <p:txBody>
          <a:bodyPr wrap="square"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Ressource</a:t>
            </a:r>
            <a:endParaRPr lang="en-US" sz="1100" dirty="0"/>
          </a:p>
        </p:txBody>
      </p:sp>
      <p:sp>
        <p:nvSpPr>
          <p:cNvPr id="26" name="Text 23"/>
          <p:cNvSpPr/>
          <p:nvPr/>
        </p:nvSpPr>
        <p:spPr>
          <a:xfrm>
            <a:off x="6126480" y="3785616"/>
            <a:ext cx="2468880" cy="18288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IdRessource · Type · Contenu</a:t>
            </a:r>
            <a:endParaRPr lang="en-US" sz="900" dirty="0"/>
          </a:p>
        </p:txBody>
      </p:sp>
      <p:sp>
        <p:nvSpPr>
          <p:cNvPr id="27" name="Shape 24"/>
          <p:cNvSpPr/>
          <p:nvPr/>
        </p:nvSpPr>
        <p:spPr>
          <a:xfrm>
            <a:off x="5989320" y="4096512"/>
            <a:ext cx="2724912" cy="457200"/>
          </a:xfrm>
          <a:prstGeom prst="rect">
            <a:avLst/>
          </a:prstGeom>
          <a:solidFill>
            <a:srgbClr val="F0F3F7"/>
          </a:solidFill>
          <a:ln/>
        </p:spPr>
      </p:sp>
      <p:sp>
        <p:nvSpPr>
          <p:cNvPr id="28" name="Shape 25"/>
          <p:cNvSpPr/>
          <p:nvPr/>
        </p:nvSpPr>
        <p:spPr>
          <a:xfrm>
            <a:off x="5989320" y="4096512"/>
            <a:ext cx="54864" cy="457200"/>
          </a:xfrm>
          <a:prstGeom prst="rect">
            <a:avLst/>
          </a:prstGeom>
          <a:solidFill>
            <a:srgbClr val="2E74B5"/>
          </a:solidFill>
          <a:ln/>
        </p:spPr>
      </p:sp>
      <p:sp>
        <p:nvSpPr>
          <p:cNvPr id="29" name="Text 26"/>
          <p:cNvSpPr/>
          <p:nvPr/>
        </p:nvSpPr>
        <p:spPr>
          <a:xfrm>
            <a:off x="6126480" y="4114800"/>
            <a:ext cx="2468880" cy="219456"/>
          </a:xfrm>
          <a:prstGeom prst="rect">
            <a:avLst/>
          </a:prstGeom>
          <a:noFill/>
          <a:ln/>
        </p:spPr>
        <p:txBody>
          <a:bodyPr wrap="square"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Quiz</a:t>
            </a:r>
            <a:endParaRPr lang="en-US" sz="1100" dirty="0"/>
          </a:p>
        </p:txBody>
      </p:sp>
      <p:sp>
        <p:nvSpPr>
          <p:cNvPr id="30" name="Text 27"/>
          <p:cNvSpPr/>
          <p:nvPr/>
        </p:nvSpPr>
        <p:spPr>
          <a:xfrm>
            <a:off x="6126480" y="4334256"/>
            <a:ext cx="2468880" cy="182880"/>
          </a:xfrm>
          <a:prstGeom prst="rect">
            <a:avLst/>
          </a:prstGeom>
          <a:noFill/>
          <a:ln/>
        </p:spPr>
        <p:txBody>
          <a:bodyPr wrap="square" rtlCol="0" anchor="ctr"/>
          <a:lstStyle/>
          <a:p>
            <a:pPr indent="0" marL="0">
              <a:buNone/>
            </a:pPr>
            <a:r>
              <a:rPr lang="en-US" sz="900" dirty="0">
                <a:solidFill>
                  <a:srgbClr val="94A3B8"/>
                </a:solidFill>
                <a:latin typeface="Calibri" pitchFamily="34" charset="0"/>
                <a:ea typeface="Calibri" pitchFamily="34" charset="-122"/>
                <a:cs typeface="Calibri" pitchFamily="34" charset="-120"/>
              </a:rPr>
              <a:t>IdQuiz · Score · IdCours</a:t>
            </a:r>
            <a:endParaRPr lang="en-US" sz="900" dirty="0"/>
          </a:p>
        </p:txBody>
      </p:sp>
      <p:sp>
        <p:nvSpPr>
          <p:cNvPr id="31" name="Shape 28"/>
          <p:cNvSpPr/>
          <p:nvPr/>
        </p:nvSpPr>
        <p:spPr>
          <a:xfrm>
            <a:off x="0" y="4956048"/>
            <a:ext cx="9144000" cy="187452"/>
          </a:xfrm>
          <a:prstGeom prst="rect">
            <a:avLst/>
          </a:prstGeom>
          <a:solidFill>
            <a:srgbClr val="E2E8F0"/>
          </a:solidFill>
          <a:ln/>
        </p:spPr>
      </p:sp>
      <p:sp>
        <p:nvSpPr>
          <p:cNvPr id="32" name="Text 29"/>
          <p:cNvSpPr/>
          <p:nvPr/>
        </p:nvSpPr>
        <p:spPr>
          <a:xfrm>
            <a:off x="365760" y="4969764"/>
            <a:ext cx="6400800" cy="164592"/>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Plateforme Éducative Intelligente — IA &amp; Microservices</a:t>
            </a:r>
            <a:endParaRPr lang="en-US" sz="850" dirty="0"/>
          </a:p>
        </p:txBody>
      </p:sp>
      <p:sp>
        <p:nvSpPr>
          <p:cNvPr id="33" name="Text 30"/>
          <p:cNvSpPr/>
          <p:nvPr/>
        </p:nvSpPr>
        <p:spPr>
          <a:xfrm>
            <a:off x="0" y="4969764"/>
            <a:ext cx="8778240" cy="164592"/>
          </a:xfrm>
          <a:prstGeom prst="rect">
            <a:avLst/>
          </a:prstGeom>
          <a:noFill/>
          <a:ln/>
        </p:spPr>
        <p:txBody>
          <a:bodyPr wrap="square"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06 / 12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B3A5C"/>
          </a:solidFill>
          <a:ln/>
        </p:spPr>
      </p:sp>
      <p:sp>
        <p:nvSpPr>
          <p:cNvPr id="3" name="Shape 1"/>
          <p:cNvSpPr/>
          <p:nvPr/>
        </p:nvSpPr>
        <p:spPr>
          <a:xfrm>
            <a:off x="0" y="1161288"/>
            <a:ext cx="9144000" cy="54864"/>
          </a:xfrm>
          <a:prstGeom prst="rect">
            <a:avLst/>
          </a:prstGeom>
          <a:solidFill>
            <a:srgbClr val="2E74B5"/>
          </a:solidFill>
          <a:ln/>
        </p:spPr>
      </p:sp>
      <p:sp>
        <p:nvSpPr>
          <p:cNvPr id="4" name="Text 2"/>
          <p:cNvSpPr/>
          <p:nvPr/>
        </p:nvSpPr>
        <p:spPr>
          <a:xfrm>
            <a:off x="365760" y="137160"/>
            <a:ext cx="841248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BASE DE DONNÉES — SCHÉMA PHYSIQUE (ER)</a:t>
            </a:r>
            <a:endParaRPr lang="en-US" sz="2400" dirty="0"/>
          </a:p>
        </p:txBody>
      </p:sp>
      <p:sp>
        <p:nvSpPr>
          <p:cNvPr id="5" name="Text 3"/>
          <p:cNvSpPr/>
          <p:nvPr/>
        </p:nvSpPr>
        <p:spPr>
          <a:xfrm>
            <a:off x="365760" y="713232"/>
            <a:ext cx="8412480" cy="36576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Clés primaires (PK) et étrangères (FK) — Modèle PostgreSQL complet</a:t>
            </a:r>
            <a:endParaRPr lang="en-US" sz="1200" dirty="0"/>
          </a:p>
        </p:txBody>
      </p:sp>
      <p:sp>
        <p:nvSpPr>
          <p:cNvPr id="6" name="Shape 4"/>
          <p:cNvSpPr/>
          <p:nvPr/>
        </p:nvSpPr>
        <p:spPr>
          <a:xfrm>
            <a:off x="274320" y="1298448"/>
            <a:ext cx="8595360" cy="3547872"/>
          </a:xfrm>
          <a:prstGeom prst="rect">
            <a:avLst/>
          </a:prstGeom>
          <a:solidFill>
            <a:srgbClr val="FFFFFF"/>
          </a:solidFill>
          <a:ln/>
          <a:effectLst>
            <a:outerShdw sx="100000" sy="100000" kx="0" ky="0" algn="bl" rotWithShape="0" blurRad="76200" dist="25400" dir="8100000">
              <a:srgbClr val="000000">
                <a:alpha val="8000"/>
              </a:srgbClr>
            </a:outerShdw>
          </a:effectLst>
        </p:spPr>
      </p:sp>
      <p:pic>
        <p:nvPicPr>
          <p:cNvPr id="7" name="Image 0" descr="preencoded.png">    </p:cNvPr>
          <p:cNvPicPr>
            <a:picLocks noChangeAspect="1"/>
          </p:cNvPicPr>
          <p:nvPr/>
        </p:nvPicPr>
        <p:blipFill>
          <a:blip r:embed="rId1"/>
          <a:srcRect l="0" r="0" t="0" b="0"/>
          <a:stretch/>
        </p:blipFill>
        <p:spPr>
          <a:xfrm>
            <a:off x="347472" y="1353312"/>
            <a:ext cx="8449056" cy="3438144"/>
          </a:xfrm>
          <a:prstGeom prst="rect">
            <a:avLst/>
          </a:prstGeom>
        </p:spPr>
      </p:pic>
      <p:sp>
        <p:nvSpPr>
          <p:cNvPr id="8" name="Shape 5"/>
          <p:cNvSpPr/>
          <p:nvPr/>
        </p:nvSpPr>
        <p:spPr>
          <a:xfrm>
            <a:off x="274320" y="4828032"/>
            <a:ext cx="2011680" cy="201168"/>
          </a:xfrm>
          <a:prstGeom prst="rect">
            <a:avLst/>
          </a:prstGeom>
          <a:solidFill>
            <a:srgbClr val="2E74B5"/>
          </a:solidFill>
          <a:ln/>
        </p:spPr>
      </p:sp>
      <p:sp>
        <p:nvSpPr>
          <p:cNvPr id="9" name="Text 6"/>
          <p:cNvSpPr/>
          <p:nvPr/>
        </p:nvSpPr>
        <p:spPr>
          <a:xfrm>
            <a:off x="274320" y="4828032"/>
            <a:ext cx="2011680" cy="20116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PK = Clé Primaire</a:t>
            </a:r>
            <a:endParaRPr lang="en-US" sz="850" dirty="0"/>
          </a:p>
        </p:txBody>
      </p:sp>
      <p:sp>
        <p:nvSpPr>
          <p:cNvPr id="10" name="Shape 7"/>
          <p:cNvSpPr/>
          <p:nvPr/>
        </p:nvSpPr>
        <p:spPr>
          <a:xfrm>
            <a:off x="2450592" y="4828032"/>
            <a:ext cx="2011680" cy="201168"/>
          </a:xfrm>
          <a:prstGeom prst="rect">
            <a:avLst/>
          </a:prstGeom>
          <a:solidFill>
            <a:srgbClr val="2B5482"/>
          </a:solidFill>
          <a:ln/>
        </p:spPr>
      </p:sp>
      <p:sp>
        <p:nvSpPr>
          <p:cNvPr id="11" name="Text 8"/>
          <p:cNvSpPr/>
          <p:nvPr/>
        </p:nvSpPr>
        <p:spPr>
          <a:xfrm>
            <a:off x="2450592" y="4828032"/>
            <a:ext cx="2011680" cy="20116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FK = Clé Étrangère</a:t>
            </a:r>
            <a:endParaRPr lang="en-US" sz="850" dirty="0"/>
          </a:p>
        </p:txBody>
      </p:sp>
      <p:sp>
        <p:nvSpPr>
          <p:cNvPr id="12" name="Shape 9"/>
          <p:cNvSpPr/>
          <p:nvPr/>
        </p:nvSpPr>
        <p:spPr>
          <a:xfrm>
            <a:off x="4626864" y="4828032"/>
            <a:ext cx="2011680" cy="201168"/>
          </a:xfrm>
          <a:prstGeom prst="rect">
            <a:avLst/>
          </a:prstGeom>
          <a:solidFill>
            <a:srgbClr val="16A34A"/>
          </a:solidFill>
          <a:ln/>
        </p:spPr>
      </p:sp>
      <p:sp>
        <p:nvSpPr>
          <p:cNvPr id="13" name="Text 10"/>
          <p:cNvSpPr/>
          <p:nvPr/>
        </p:nvSpPr>
        <p:spPr>
          <a:xfrm>
            <a:off x="4626864" y="4828032"/>
            <a:ext cx="2011680" cy="20116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1,n = Un à plusieurs</a:t>
            </a:r>
            <a:endParaRPr lang="en-US" sz="850" dirty="0"/>
          </a:p>
        </p:txBody>
      </p:sp>
      <p:sp>
        <p:nvSpPr>
          <p:cNvPr id="14" name="Shape 11"/>
          <p:cNvSpPr/>
          <p:nvPr/>
        </p:nvSpPr>
        <p:spPr>
          <a:xfrm>
            <a:off x="6803136" y="4828032"/>
            <a:ext cx="2011680" cy="201168"/>
          </a:xfrm>
          <a:prstGeom prst="rect">
            <a:avLst/>
          </a:prstGeom>
          <a:solidFill>
            <a:srgbClr val="94A3B8"/>
          </a:solidFill>
          <a:ln/>
        </p:spPr>
      </p:sp>
      <p:sp>
        <p:nvSpPr>
          <p:cNvPr id="15" name="Text 12"/>
          <p:cNvSpPr/>
          <p:nvPr/>
        </p:nvSpPr>
        <p:spPr>
          <a:xfrm>
            <a:off x="6803136" y="4828032"/>
            <a:ext cx="2011680" cy="201168"/>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0,n = Optionnel</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B3A5C"/>
          </a:solidFill>
          <a:ln/>
        </p:spPr>
      </p:sp>
      <p:sp>
        <p:nvSpPr>
          <p:cNvPr id="3" name="Shape 1"/>
          <p:cNvSpPr/>
          <p:nvPr/>
        </p:nvSpPr>
        <p:spPr>
          <a:xfrm>
            <a:off x="0" y="1161288"/>
            <a:ext cx="9144000" cy="54864"/>
          </a:xfrm>
          <a:prstGeom prst="rect">
            <a:avLst/>
          </a:prstGeom>
          <a:solidFill>
            <a:srgbClr val="2E74B5"/>
          </a:solidFill>
          <a:ln/>
        </p:spPr>
      </p:sp>
      <p:sp>
        <p:nvSpPr>
          <p:cNvPr id="4" name="Text 2"/>
          <p:cNvSpPr/>
          <p:nvPr/>
        </p:nvSpPr>
        <p:spPr>
          <a:xfrm>
            <a:off x="365760" y="137160"/>
            <a:ext cx="841248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ARCHITECTURE MICROSERVICES</a:t>
            </a:r>
            <a:endParaRPr lang="en-US" sz="2400" dirty="0"/>
          </a:p>
        </p:txBody>
      </p:sp>
      <p:sp>
        <p:nvSpPr>
          <p:cNvPr id="5" name="Text 3"/>
          <p:cNvSpPr/>
          <p:nvPr/>
        </p:nvSpPr>
        <p:spPr>
          <a:xfrm>
            <a:off x="365760" y="713232"/>
            <a:ext cx="8412480" cy="36576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4 services indépendants — Conteneurisés avec Docker, orchestrés par Kubernetes</a:t>
            </a:r>
            <a:endParaRPr lang="en-US" sz="1200" dirty="0"/>
          </a:p>
        </p:txBody>
      </p:sp>
      <p:sp>
        <p:nvSpPr>
          <p:cNvPr id="6" name="Shape 4"/>
          <p:cNvSpPr/>
          <p:nvPr/>
        </p:nvSpPr>
        <p:spPr>
          <a:xfrm>
            <a:off x="256032" y="1298448"/>
            <a:ext cx="2011680" cy="36576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256032" y="1298448"/>
            <a:ext cx="2011680" cy="960120"/>
          </a:xfrm>
          <a:prstGeom prst="rect">
            <a:avLst/>
          </a:prstGeom>
          <a:solidFill>
            <a:srgbClr val="2E74B5"/>
          </a:solidFill>
          <a:ln/>
        </p:spPr>
      </p:sp>
      <p:pic>
        <p:nvPicPr>
          <p:cNvPr id="8" name="Image 0" descr="preencoded.png">    </p:cNvPr>
          <p:cNvPicPr>
            <a:picLocks noChangeAspect="1"/>
          </p:cNvPicPr>
          <p:nvPr/>
        </p:nvPicPr>
        <p:blipFill>
          <a:blip r:embed="rId1"/>
          <a:stretch>
            <a:fillRect/>
          </a:stretch>
        </p:blipFill>
        <p:spPr>
          <a:xfrm>
            <a:off x="960120" y="1417320"/>
            <a:ext cx="502920" cy="502920"/>
          </a:xfrm>
          <a:prstGeom prst="rect">
            <a:avLst/>
          </a:prstGeom>
        </p:spPr>
      </p:pic>
      <p:sp>
        <p:nvSpPr>
          <p:cNvPr id="9" name="Text 6"/>
          <p:cNvSpPr/>
          <p:nvPr/>
        </p:nvSpPr>
        <p:spPr>
          <a:xfrm>
            <a:off x="329184" y="1956816"/>
            <a:ext cx="1865376"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Gestion Utilisateurs</a:t>
            </a:r>
            <a:endParaRPr lang="en-US" sz="1100" dirty="0"/>
          </a:p>
        </p:txBody>
      </p:sp>
      <p:sp>
        <p:nvSpPr>
          <p:cNvPr id="10" name="Shape 7"/>
          <p:cNvSpPr/>
          <p:nvPr/>
        </p:nvSpPr>
        <p:spPr>
          <a:xfrm>
            <a:off x="420624" y="2331720"/>
            <a:ext cx="1682496" cy="36576"/>
          </a:xfrm>
          <a:prstGeom prst="rect">
            <a:avLst/>
          </a:prstGeom>
          <a:solidFill>
            <a:srgbClr val="E2E8F0"/>
          </a:solidFill>
          <a:ln/>
        </p:spPr>
      </p:sp>
      <p:sp>
        <p:nvSpPr>
          <p:cNvPr id="11" name="Shape 8"/>
          <p:cNvSpPr/>
          <p:nvPr/>
        </p:nvSpPr>
        <p:spPr>
          <a:xfrm>
            <a:off x="420624" y="2551176"/>
            <a:ext cx="128016" cy="128016"/>
          </a:xfrm>
          <a:prstGeom prst="ellipse">
            <a:avLst/>
          </a:prstGeom>
          <a:solidFill>
            <a:srgbClr val="2E74B5"/>
          </a:solidFill>
          <a:ln w="12700">
            <a:solidFill>
              <a:srgbClr val="2E74B5"/>
            </a:solidFill>
            <a:prstDash val="solid"/>
          </a:ln>
        </p:spPr>
      </p:sp>
      <p:sp>
        <p:nvSpPr>
          <p:cNvPr id="12" name="Text 9"/>
          <p:cNvSpPr/>
          <p:nvPr/>
        </p:nvSpPr>
        <p:spPr>
          <a:xfrm>
            <a:off x="603504" y="246888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Authentification JWT</a:t>
            </a:r>
            <a:endParaRPr lang="en-US" sz="1000" dirty="0"/>
          </a:p>
        </p:txBody>
      </p:sp>
      <p:sp>
        <p:nvSpPr>
          <p:cNvPr id="13" name="Shape 10"/>
          <p:cNvSpPr/>
          <p:nvPr/>
        </p:nvSpPr>
        <p:spPr>
          <a:xfrm>
            <a:off x="420624" y="3099816"/>
            <a:ext cx="128016" cy="128016"/>
          </a:xfrm>
          <a:prstGeom prst="ellipse">
            <a:avLst/>
          </a:prstGeom>
          <a:solidFill>
            <a:srgbClr val="2E74B5"/>
          </a:solidFill>
          <a:ln w="12700">
            <a:solidFill>
              <a:srgbClr val="2E74B5"/>
            </a:solidFill>
            <a:prstDash val="solid"/>
          </a:ln>
        </p:spPr>
      </p:sp>
      <p:sp>
        <p:nvSpPr>
          <p:cNvPr id="14" name="Text 11"/>
          <p:cNvSpPr/>
          <p:nvPr/>
        </p:nvSpPr>
        <p:spPr>
          <a:xfrm>
            <a:off x="603504" y="301752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Profils &amp; rôles (Admin / Enseignant / Étudiant)</a:t>
            </a:r>
            <a:endParaRPr lang="en-US" sz="1000" dirty="0"/>
          </a:p>
        </p:txBody>
      </p:sp>
      <p:sp>
        <p:nvSpPr>
          <p:cNvPr id="15" name="Shape 12"/>
          <p:cNvSpPr/>
          <p:nvPr/>
        </p:nvSpPr>
        <p:spPr>
          <a:xfrm>
            <a:off x="420624" y="3648456"/>
            <a:ext cx="128016" cy="128016"/>
          </a:xfrm>
          <a:prstGeom prst="ellipse">
            <a:avLst/>
          </a:prstGeom>
          <a:solidFill>
            <a:srgbClr val="2E74B5"/>
          </a:solidFill>
          <a:ln w="12700">
            <a:solidFill>
              <a:srgbClr val="2E74B5"/>
            </a:solidFill>
            <a:prstDash val="solid"/>
          </a:ln>
        </p:spPr>
      </p:sp>
      <p:sp>
        <p:nvSpPr>
          <p:cNvPr id="16" name="Text 13"/>
          <p:cNvSpPr/>
          <p:nvPr/>
        </p:nvSpPr>
        <p:spPr>
          <a:xfrm>
            <a:off x="603504" y="356616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Gestion des comptes</a:t>
            </a:r>
            <a:endParaRPr lang="en-US" sz="1000" dirty="0"/>
          </a:p>
        </p:txBody>
      </p:sp>
      <p:sp>
        <p:nvSpPr>
          <p:cNvPr id="17" name="Shape 14"/>
          <p:cNvSpPr/>
          <p:nvPr/>
        </p:nvSpPr>
        <p:spPr>
          <a:xfrm>
            <a:off x="420624" y="4197096"/>
            <a:ext cx="128016" cy="128016"/>
          </a:xfrm>
          <a:prstGeom prst="ellipse">
            <a:avLst/>
          </a:prstGeom>
          <a:solidFill>
            <a:srgbClr val="2E74B5"/>
          </a:solidFill>
          <a:ln w="12700">
            <a:solidFill>
              <a:srgbClr val="2E74B5"/>
            </a:solidFill>
            <a:prstDash val="solid"/>
          </a:ln>
        </p:spPr>
      </p:sp>
      <p:sp>
        <p:nvSpPr>
          <p:cNvPr id="18" name="Text 15"/>
          <p:cNvSpPr/>
          <p:nvPr/>
        </p:nvSpPr>
        <p:spPr>
          <a:xfrm>
            <a:off x="603504" y="411480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Base : PostgreSQL</a:t>
            </a:r>
            <a:endParaRPr lang="en-US" sz="1000" dirty="0"/>
          </a:p>
        </p:txBody>
      </p:sp>
      <p:sp>
        <p:nvSpPr>
          <p:cNvPr id="19" name="Shape 16"/>
          <p:cNvSpPr/>
          <p:nvPr/>
        </p:nvSpPr>
        <p:spPr>
          <a:xfrm>
            <a:off x="2432304" y="1298448"/>
            <a:ext cx="2011680" cy="36576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0" name="Shape 17"/>
          <p:cNvSpPr/>
          <p:nvPr/>
        </p:nvSpPr>
        <p:spPr>
          <a:xfrm>
            <a:off x="2432304" y="1298448"/>
            <a:ext cx="2011680" cy="960120"/>
          </a:xfrm>
          <a:prstGeom prst="rect">
            <a:avLst/>
          </a:prstGeom>
          <a:solidFill>
            <a:srgbClr val="2B5482"/>
          </a:solidFill>
          <a:ln/>
        </p:spPr>
      </p:sp>
      <p:pic>
        <p:nvPicPr>
          <p:cNvPr id="21" name="Image 1" descr="preencoded.png">    </p:cNvPr>
          <p:cNvPicPr>
            <a:picLocks noChangeAspect="1"/>
          </p:cNvPicPr>
          <p:nvPr/>
        </p:nvPicPr>
        <p:blipFill>
          <a:blip r:embed="rId2"/>
          <a:stretch>
            <a:fillRect/>
          </a:stretch>
        </p:blipFill>
        <p:spPr>
          <a:xfrm>
            <a:off x="3136392" y="1417320"/>
            <a:ext cx="502920" cy="502920"/>
          </a:xfrm>
          <a:prstGeom prst="rect">
            <a:avLst/>
          </a:prstGeom>
        </p:spPr>
      </p:pic>
      <p:sp>
        <p:nvSpPr>
          <p:cNvPr id="22" name="Text 18"/>
          <p:cNvSpPr/>
          <p:nvPr/>
        </p:nvSpPr>
        <p:spPr>
          <a:xfrm>
            <a:off x="2505456" y="1956816"/>
            <a:ext cx="1865376"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Moteur Recommandations</a:t>
            </a:r>
            <a:endParaRPr lang="en-US" sz="1100" dirty="0"/>
          </a:p>
        </p:txBody>
      </p:sp>
      <p:sp>
        <p:nvSpPr>
          <p:cNvPr id="23" name="Shape 19"/>
          <p:cNvSpPr/>
          <p:nvPr/>
        </p:nvSpPr>
        <p:spPr>
          <a:xfrm>
            <a:off x="2596896" y="2331720"/>
            <a:ext cx="1682496" cy="36576"/>
          </a:xfrm>
          <a:prstGeom prst="rect">
            <a:avLst/>
          </a:prstGeom>
          <a:solidFill>
            <a:srgbClr val="E2E8F0"/>
          </a:solidFill>
          <a:ln/>
        </p:spPr>
      </p:sp>
      <p:sp>
        <p:nvSpPr>
          <p:cNvPr id="24" name="Shape 20"/>
          <p:cNvSpPr/>
          <p:nvPr/>
        </p:nvSpPr>
        <p:spPr>
          <a:xfrm>
            <a:off x="2596896" y="2551176"/>
            <a:ext cx="128016" cy="128016"/>
          </a:xfrm>
          <a:prstGeom prst="ellipse">
            <a:avLst/>
          </a:prstGeom>
          <a:solidFill>
            <a:srgbClr val="2B5482"/>
          </a:solidFill>
          <a:ln w="12700">
            <a:solidFill>
              <a:srgbClr val="2B5482"/>
            </a:solidFill>
            <a:prstDash val="solid"/>
          </a:ln>
        </p:spPr>
      </p:sp>
      <p:sp>
        <p:nvSpPr>
          <p:cNvPr id="25" name="Text 21"/>
          <p:cNvSpPr/>
          <p:nvPr/>
        </p:nvSpPr>
        <p:spPr>
          <a:xfrm>
            <a:off x="2779776" y="246888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Collaborative Filtering</a:t>
            </a:r>
            <a:endParaRPr lang="en-US" sz="1000" dirty="0"/>
          </a:p>
        </p:txBody>
      </p:sp>
      <p:sp>
        <p:nvSpPr>
          <p:cNvPr id="26" name="Shape 22"/>
          <p:cNvSpPr/>
          <p:nvPr/>
        </p:nvSpPr>
        <p:spPr>
          <a:xfrm>
            <a:off x="2596896" y="3099816"/>
            <a:ext cx="128016" cy="128016"/>
          </a:xfrm>
          <a:prstGeom prst="ellipse">
            <a:avLst/>
          </a:prstGeom>
          <a:solidFill>
            <a:srgbClr val="2B5482"/>
          </a:solidFill>
          <a:ln w="12700">
            <a:solidFill>
              <a:srgbClr val="2B5482"/>
            </a:solidFill>
            <a:prstDash val="solid"/>
          </a:ln>
        </p:spPr>
      </p:sp>
      <p:sp>
        <p:nvSpPr>
          <p:cNvPr id="27" name="Text 23"/>
          <p:cNvSpPr/>
          <p:nvPr/>
        </p:nvSpPr>
        <p:spPr>
          <a:xfrm>
            <a:off x="2779776" y="301752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Content-Based Filtering</a:t>
            </a:r>
            <a:endParaRPr lang="en-US" sz="1000" dirty="0"/>
          </a:p>
        </p:txBody>
      </p:sp>
      <p:sp>
        <p:nvSpPr>
          <p:cNvPr id="28" name="Shape 24"/>
          <p:cNvSpPr/>
          <p:nvPr/>
        </p:nvSpPr>
        <p:spPr>
          <a:xfrm>
            <a:off x="2596896" y="3648456"/>
            <a:ext cx="128016" cy="128016"/>
          </a:xfrm>
          <a:prstGeom prst="ellipse">
            <a:avLst/>
          </a:prstGeom>
          <a:solidFill>
            <a:srgbClr val="2B5482"/>
          </a:solidFill>
          <a:ln w="12700">
            <a:solidFill>
              <a:srgbClr val="2B5482"/>
            </a:solidFill>
            <a:prstDash val="solid"/>
          </a:ln>
        </p:spPr>
      </p:sp>
      <p:sp>
        <p:nvSpPr>
          <p:cNvPr id="29" name="Text 25"/>
          <p:cNvSpPr/>
          <p:nvPr/>
        </p:nvSpPr>
        <p:spPr>
          <a:xfrm>
            <a:off x="2779776" y="356616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Feedback loop continu</a:t>
            </a:r>
            <a:endParaRPr lang="en-US" sz="1000" dirty="0"/>
          </a:p>
        </p:txBody>
      </p:sp>
      <p:sp>
        <p:nvSpPr>
          <p:cNvPr id="30" name="Shape 26"/>
          <p:cNvSpPr/>
          <p:nvPr/>
        </p:nvSpPr>
        <p:spPr>
          <a:xfrm>
            <a:off x="2596896" y="4197096"/>
            <a:ext cx="128016" cy="128016"/>
          </a:xfrm>
          <a:prstGeom prst="ellipse">
            <a:avLst/>
          </a:prstGeom>
          <a:solidFill>
            <a:srgbClr val="2B5482"/>
          </a:solidFill>
          <a:ln w="12700">
            <a:solidFill>
              <a:srgbClr val="2B5482"/>
            </a:solidFill>
            <a:prstDash val="solid"/>
          </a:ln>
        </p:spPr>
      </p:sp>
      <p:sp>
        <p:nvSpPr>
          <p:cNvPr id="31" name="Text 27"/>
          <p:cNvSpPr/>
          <p:nvPr/>
        </p:nvSpPr>
        <p:spPr>
          <a:xfrm>
            <a:off x="2779776" y="411480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Cache : Redis</a:t>
            </a:r>
            <a:endParaRPr lang="en-US" sz="1000" dirty="0"/>
          </a:p>
        </p:txBody>
      </p:sp>
      <p:sp>
        <p:nvSpPr>
          <p:cNvPr id="32" name="Shape 28"/>
          <p:cNvSpPr/>
          <p:nvPr/>
        </p:nvSpPr>
        <p:spPr>
          <a:xfrm>
            <a:off x="4608576" y="1298448"/>
            <a:ext cx="2011680" cy="36576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3" name="Shape 29"/>
          <p:cNvSpPr/>
          <p:nvPr/>
        </p:nvSpPr>
        <p:spPr>
          <a:xfrm>
            <a:off x="4608576" y="1298448"/>
            <a:ext cx="2011680" cy="960120"/>
          </a:xfrm>
          <a:prstGeom prst="rect">
            <a:avLst/>
          </a:prstGeom>
          <a:solidFill>
            <a:srgbClr val="2E74B5"/>
          </a:solidFill>
          <a:ln/>
        </p:spPr>
      </p:sp>
      <p:pic>
        <p:nvPicPr>
          <p:cNvPr id="34" name="Image 2" descr="preencoded.png">    </p:cNvPr>
          <p:cNvPicPr>
            <a:picLocks noChangeAspect="1"/>
          </p:cNvPicPr>
          <p:nvPr/>
        </p:nvPicPr>
        <p:blipFill>
          <a:blip r:embed="rId3"/>
          <a:stretch>
            <a:fillRect/>
          </a:stretch>
        </p:blipFill>
        <p:spPr>
          <a:xfrm>
            <a:off x="5312664" y="1417320"/>
            <a:ext cx="502920" cy="502920"/>
          </a:xfrm>
          <a:prstGeom prst="rect">
            <a:avLst/>
          </a:prstGeom>
        </p:spPr>
      </p:pic>
      <p:sp>
        <p:nvSpPr>
          <p:cNvPr id="35" name="Text 30"/>
          <p:cNvSpPr/>
          <p:nvPr/>
        </p:nvSpPr>
        <p:spPr>
          <a:xfrm>
            <a:off x="4681728" y="1956816"/>
            <a:ext cx="1865376"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Suivi Progression</a:t>
            </a:r>
            <a:endParaRPr lang="en-US" sz="1100" dirty="0"/>
          </a:p>
        </p:txBody>
      </p:sp>
      <p:sp>
        <p:nvSpPr>
          <p:cNvPr id="36" name="Shape 31"/>
          <p:cNvSpPr/>
          <p:nvPr/>
        </p:nvSpPr>
        <p:spPr>
          <a:xfrm>
            <a:off x="4773168" y="2331720"/>
            <a:ext cx="1682496" cy="36576"/>
          </a:xfrm>
          <a:prstGeom prst="rect">
            <a:avLst/>
          </a:prstGeom>
          <a:solidFill>
            <a:srgbClr val="E2E8F0"/>
          </a:solidFill>
          <a:ln/>
        </p:spPr>
      </p:sp>
      <p:sp>
        <p:nvSpPr>
          <p:cNvPr id="37" name="Shape 32"/>
          <p:cNvSpPr/>
          <p:nvPr/>
        </p:nvSpPr>
        <p:spPr>
          <a:xfrm>
            <a:off x="4773168" y="2551176"/>
            <a:ext cx="128016" cy="128016"/>
          </a:xfrm>
          <a:prstGeom prst="ellipse">
            <a:avLst/>
          </a:prstGeom>
          <a:solidFill>
            <a:srgbClr val="2E74B5"/>
          </a:solidFill>
          <a:ln w="12700">
            <a:solidFill>
              <a:srgbClr val="2E74B5"/>
            </a:solidFill>
            <a:prstDash val="solid"/>
          </a:ln>
        </p:spPr>
      </p:sp>
      <p:sp>
        <p:nvSpPr>
          <p:cNvPr id="38" name="Text 33"/>
          <p:cNvSpPr/>
          <p:nvPr/>
        </p:nvSpPr>
        <p:spPr>
          <a:xfrm>
            <a:off x="4956048" y="246888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Dashboard temps réel</a:t>
            </a:r>
            <a:endParaRPr lang="en-US" sz="1000" dirty="0"/>
          </a:p>
        </p:txBody>
      </p:sp>
      <p:sp>
        <p:nvSpPr>
          <p:cNvPr id="39" name="Shape 34"/>
          <p:cNvSpPr/>
          <p:nvPr/>
        </p:nvSpPr>
        <p:spPr>
          <a:xfrm>
            <a:off x="4773168" y="3099816"/>
            <a:ext cx="128016" cy="128016"/>
          </a:xfrm>
          <a:prstGeom prst="ellipse">
            <a:avLst/>
          </a:prstGeom>
          <a:solidFill>
            <a:srgbClr val="2E74B5"/>
          </a:solidFill>
          <a:ln w="12700">
            <a:solidFill>
              <a:srgbClr val="2E74B5"/>
            </a:solidFill>
            <a:prstDash val="solid"/>
          </a:ln>
        </p:spPr>
      </p:sp>
      <p:sp>
        <p:nvSpPr>
          <p:cNvPr id="40" name="Text 35"/>
          <p:cNvSpPr/>
          <p:nvPr/>
        </p:nvSpPr>
        <p:spPr>
          <a:xfrm>
            <a:off x="4956048" y="301752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WebSockets &amp; Firebase</a:t>
            </a:r>
            <a:endParaRPr lang="en-US" sz="1000" dirty="0"/>
          </a:p>
        </p:txBody>
      </p:sp>
      <p:sp>
        <p:nvSpPr>
          <p:cNvPr id="41" name="Shape 36"/>
          <p:cNvSpPr/>
          <p:nvPr/>
        </p:nvSpPr>
        <p:spPr>
          <a:xfrm>
            <a:off x="4773168" y="3648456"/>
            <a:ext cx="128016" cy="128016"/>
          </a:xfrm>
          <a:prstGeom prst="ellipse">
            <a:avLst/>
          </a:prstGeom>
          <a:solidFill>
            <a:srgbClr val="2E74B5"/>
          </a:solidFill>
          <a:ln w="12700">
            <a:solidFill>
              <a:srgbClr val="2E74B5"/>
            </a:solidFill>
            <a:prstDash val="solid"/>
          </a:ln>
        </p:spPr>
      </p:sp>
      <p:sp>
        <p:nvSpPr>
          <p:cNvPr id="42" name="Text 37"/>
          <p:cNvSpPr/>
          <p:nvPr/>
        </p:nvSpPr>
        <p:spPr>
          <a:xfrm>
            <a:off x="4956048" y="356616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Triggers BDD automatiques</a:t>
            </a:r>
            <a:endParaRPr lang="en-US" sz="1000" dirty="0"/>
          </a:p>
        </p:txBody>
      </p:sp>
      <p:sp>
        <p:nvSpPr>
          <p:cNvPr id="43" name="Shape 38"/>
          <p:cNvSpPr/>
          <p:nvPr/>
        </p:nvSpPr>
        <p:spPr>
          <a:xfrm>
            <a:off x="4773168" y="4197096"/>
            <a:ext cx="128016" cy="128016"/>
          </a:xfrm>
          <a:prstGeom prst="ellipse">
            <a:avLst/>
          </a:prstGeom>
          <a:solidFill>
            <a:srgbClr val="2E74B5"/>
          </a:solidFill>
          <a:ln w="12700">
            <a:solidFill>
              <a:srgbClr val="2E74B5"/>
            </a:solidFill>
            <a:prstDash val="solid"/>
          </a:ln>
        </p:spPr>
      </p:sp>
      <p:sp>
        <p:nvSpPr>
          <p:cNvPr id="44" name="Text 39"/>
          <p:cNvSpPr/>
          <p:nvPr/>
        </p:nvSpPr>
        <p:spPr>
          <a:xfrm>
            <a:off x="4956048" y="411480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Analytics : Snowflake</a:t>
            </a:r>
            <a:endParaRPr lang="en-US" sz="1000" dirty="0"/>
          </a:p>
        </p:txBody>
      </p:sp>
      <p:sp>
        <p:nvSpPr>
          <p:cNvPr id="45" name="Shape 40"/>
          <p:cNvSpPr/>
          <p:nvPr/>
        </p:nvSpPr>
        <p:spPr>
          <a:xfrm>
            <a:off x="6784848" y="1298448"/>
            <a:ext cx="2011680" cy="36576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6" name="Shape 41"/>
          <p:cNvSpPr/>
          <p:nvPr/>
        </p:nvSpPr>
        <p:spPr>
          <a:xfrm>
            <a:off x="6784848" y="1298448"/>
            <a:ext cx="2011680" cy="960120"/>
          </a:xfrm>
          <a:prstGeom prst="rect">
            <a:avLst/>
          </a:prstGeom>
          <a:solidFill>
            <a:srgbClr val="2B5482"/>
          </a:solidFill>
          <a:ln/>
        </p:spPr>
      </p:sp>
      <p:pic>
        <p:nvPicPr>
          <p:cNvPr id="47" name="Image 3" descr="preencoded.png">    </p:cNvPr>
          <p:cNvPicPr>
            <a:picLocks noChangeAspect="1"/>
          </p:cNvPicPr>
          <p:nvPr/>
        </p:nvPicPr>
        <p:blipFill>
          <a:blip r:embed="rId4"/>
          <a:stretch>
            <a:fillRect/>
          </a:stretch>
        </p:blipFill>
        <p:spPr>
          <a:xfrm>
            <a:off x="7488936" y="1417320"/>
            <a:ext cx="502920" cy="502920"/>
          </a:xfrm>
          <a:prstGeom prst="rect">
            <a:avLst/>
          </a:prstGeom>
        </p:spPr>
      </p:pic>
      <p:sp>
        <p:nvSpPr>
          <p:cNvPr id="48" name="Text 42"/>
          <p:cNvSpPr/>
          <p:nvPr/>
        </p:nvSpPr>
        <p:spPr>
          <a:xfrm>
            <a:off x="6858000" y="1956816"/>
            <a:ext cx="1865376" cy="45720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Interactions Sociales</a:t>
            </a:r>
            <a:endParaRPr lang="en-US" sz="1100" dirty="0"/>
          </a:p>
        </p:txBody>
      </p:sp>
      <p:sp>
        <p:nvSpPr>
          <p:cNvPr id="49" name="Shape 43"/>
          <p:cNvSpPr/>
          <p:nvPr/>
        </p:nvSpPr>
        <p:spPr>
          <a:xfrm>
            <a:off x="6949440" y="2331720"/>
            <a:ext cx="1682496" cy="36576"/>
          </a:xfrm>
          <a:prstGeom prst="rect">
            <a:avLst/>
          </a:prstGeom>
          <a:solidFill>
            <a:srgbClr val="E2E8F0"/>
          </a:solidFill>
          <a:ln/>
        </p:spPr>
      </p:sp>
      <p:sp>
        <p:nvSpPr>
          <p:cNvPr id="50" name="Shape 44"/>
          <p:cNvSpPr/>
          <p:nvPr/>
        </p:nvSpPr>
        <p:spPr>
          <a:xfrm>
            <a:off x="6949440" y="2551176"/>
            <a:ext cx="128016" cy="128016"/>
          </a:xfrm>
          <a:prstGeom prst="ellipse">
            <a:avLst/>
          </a:prstGeom>
          <a:solidFill>
            <a:srgbClr val="2B5482"/>
          </a:solidFill>
          <a:ln w="12700">
            <a:solidFill>
              <a:srgbClr val="2B5482"/>
            </a:solidFill>
            <a:prstDash val="solid"/>
          </a:ln>
        </p:spPr>
      </p:sp>
      <p:sp>
        <p:nvSpPr>
          <p:cNvPr id="51" name="Text 45"/>
          <p:cNvSpPr/>
          <p:nvPr/>
        </p:nvSpPr>
        <p:spPr>
          <a:xfrm>
            <a:off x="7132320" y="246888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Forums &amp; commentaires</a:t>
            </a:r>
            <a:endParaRPr lang="en-US" sz="1000" dirty="0"/>
          </a:p>
        </p:txBody>
      </p:sp>
      <p:sp>
        <p:nvSpPr>
          <p:cNvPr id="52" name="Shape 46"/>
          <p:cNvSpPr/>
          <p:nvPr/>
        </p:nvSpPr>
        <p:spPr>
          <a:xfrm>
            <a:off x="6949440" y="3099816"/>
            <a:ext cx="128016" cy="128016"/>
          </a:xfrm>
          <a:prstGeom prst="ellipse">
            <a:avLst/>
          </a:prstGeom>
          <a:solidFill>
            <a:srgbClr val="2B5482"/>
          </a:solidFill>
          <a:ln w="12700">
            <a:solidFill>
              <a:srgbClr val="2B5482"/>
            </a:solidFill>
            <a:prstDash val="solid"/>
          </a:ln>
        </p:spPr>
      </p:sp>
      <p:sp>
        <p:nvSpPr>
          <p:cNvPr id="53" name="Text 47"/>
          <p:cNvSpPr/>
          <p:nvPr/>
        </p:nvSpPr>
        <p:spPr>
          <a:xfrm>
            <a:off x="7132320" y="301752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Partage de ressources</a:t>
            </a:r>
            <a:endParaRPr lang="en-US" sz="1000" dirty="0"/>
          </a:p>
        </p:txBody>
      </p:sp>
      <p:sp>
        <p:nvSpPr>
          <p:cNvPr id="54" name="Shape 48"/>
          <p:cNvSpPr/>
          <p:nvPr/>
        </p:nvSpPr>
        <p:spPr>
          <a:xfrm>
            <a:off x="6949440" y="3648456"/>
            <a:ext cx="128016" cy="128016"/>
          </a:xfrm>
          <a:prstGeom prst="ellipse">
            <a:avLst/>
          </a:prstGeom>
          <a:solidFill>
            <a:srgbClr val="2B5482"/>
          </a:solidFill>
          <a:ln w="12700">
            <a:solidFill>
              <a:srgbClr val="2B5482"/>
            </a:solidFill>
            <a:prstDash val="solid"/>
          </a:ln>
        </p:spPr>
      </p:sp>
      <p:sp>
        <p:nvSpPr>
          <p:cNvPr id="55" name="Text 49"/>
          <p:cNvSpPr/>
          <p:nvPr/>
        </p:nvSpPr>
        <p:spPr>
          <a:xfrm>
            <a:off x="7132320" y="356616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Notifications push</a:t>
            </a:r>
            <a:endParaRPr lang="en-US" sz="1000" dirty="0"/>
          </a:p>
        </p:txBody>
      </p:sp>
      <p:sp>
        <p:nvSpPr>
          <p:cNvPr id="56" name="Shape 50"/>
          <p:cNvSpPr/>
          <p:nvPr/>
        </p:nvSpPr>
        <p:spPr>
          <a:xfrm>
            <a:off x="6949440" y="4197096"/>
            <a:ext cx="128016" cy="128016"/>
          </a:xfrm>
          <a:prstGeom prst="ellipse">
            <a:avLst/>
          </a:prstGeom>
          <a:solidFill>
            <a:srgbClr val="2B5482"/>
          </a:solidFill>
          <a:ln w="12700">
            <a:solidFill>
              <a:srgbClr val="2B5482"/>
            </a:solidFill>
            <a:prstDash val="solid"/>
          </a:ln>
        </p:spPr>
      </p:sp>
      <p:sp>
        <p:nvSpPr>
          <p:cNvPr id="57" name="Text 51"/>
          <p:cNvSpPr/>
          <p:nvPr/>
        </p:nvSpPr>
        <p:spPr>
          <a:xfrm>
            <a:off x="7132320" y="4114800"/>
            <a:ext cx="1572768" cy="38404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Modération de contenu</a:t>
            </a:r>
            <a:endParaRPr lang="en-US" sz="1000" dirty="0"/>
          </a:p>
        </p:txBody>
      </p:sp>
      <p:sp>
        <p:nvSpPr>
          <p:cNvPr id="58" name="Shape 52"/>
          <p:cNvSpPr/>
          <p:nvPr/>
        </p:nvSpPr>
        <p:spPr>
          <a:xfrm>
            <a:off x="0" y="4956048"/>
            <a:ext cx="9144000" cy="187452"/>
          </a:xfrm>
          <a:prstGeom prst="rect">
            <a:avLst/>
          </a:prstGeom>
          <a:solidFill>
            <a:srgbClr val="1B3A5C"/>
          </a:solidFill>
          <a:ln/>
        </p:spPr>
      </p:sp>
      <p:sp>
        <p:nvSpPr>
          <p:cNvPr id="59" name="Text 53"/>
          <p:cNvSpPr/>
          <p:nvPr/>
        </p:nvSpPr>
        <p:spPr>
          <a:xfrm>
            <a:off x="0" y="4969764"/>
            <a:ext cx="9144000" cy="164592"/>
          </a:xfrm>
          <a:prstGeom prst="rect">
            <a:avLst/>
          </a:prstGeom>
          <a:noFill/>
          <a:ln/>
        </p:spPr>
        <p:txBody>
          <a:bodyPr wrap="square" rtlCol="0" anchor="ctr"/>
          <a:lstStyle/>
          <a:p>
            <a:pPr algn="ctr" indent="0" marL="0">
              <a:buNone/>
            </a:pPr>
            <a:r>
              <a:rPr lang="en-US" sz="850" dirty="0">
                <a:solidFill>
                  <a:srgbClr val="B0C4D8"/>
                </a:solidFill>
                <a:latin typeface="Calibri" pitchFamily="34" charset="0"/>
                <a:ea typeface="Calibri" pitchFamily="34" charset="-122"/>
                <a:cs typeface="Calibri" pitchFamily="34" charset="-120"/>
              </a:rPr>
              <a:t>Tous les microservices communiquent via API REST · Orchestrés par Kubernetes · Conteneurisés avec Docker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B3A5C"/>
          </a:solidFill>
          <a:ln/>
        </p:spPr>
      </p:sp>
      <p:sp>
        <p:nvSpPr>
          <p:cNvPr id="3" name="Shape 1"/>
          <p:cNvSpPr/>
          <p:nvPr/>
        </p:nvSpPr>
        <p:spPr>
          <a:xfrm>
            <a:off x="0" y="1161288"/>
            <a:ext cx="9144000" cy="54864"/>
          </a:xfrm>
          <a:prstGeom prst="rect">
            <a:avLst/>
          </a:prstGeom>
          <a:solidFill>
            <a:srgbClr val="2E74B5"/>
          </a:solidFill>
          <a:ln/>
        </p:spPr>
      </p:sp>
      <p:sp>
        <p:nvSpPr>
          <p:cNvPr id="4" name="Text 2"/>
          <p:cNvSpPr/>
          <p:nvPr/>
        </p:nvSpPr>
        <p:spPr>
          <a:xfrm>
            <a:off x="365760" y="137160"/>
            <a:ext cx="841248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DÉFIS &amp; SOLUTIONS</a:t>
            </a:r>
            <a:endParaRPr lang="en-US" sz="2400" dirty="0"/>
          </a:p>
        </p:txBody>
      </p:sp>
      <p:sp>
        <p:nvSpPr>
          <p:cNvPr id="5" name="Text 3"/>
          <p:cNvSpPr/>
          <p:nvPr/>
        </p:nvSpPr>
        <p:spPr>
          <a:xfrm>
            <a:off x="365760" y="713232"/>
            <a:ext cx="8412480" cy="36576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5 défis techniques identifiés avec leurs réponses architecturales</a:t>
            </a:r>
            <a:endParaRPr lang="en-US" sz="1200" dirty="0"/>
          </a:p>
        </p:txBody>
      </p:sp>
      <p:sp>
        <p:nvSpPr>
          <p:cNvPr id="6" name="Shape 4"/>
          <p:cNvSpPr/>
          <p:nvPr/>
        </p:nvSpPr>
        <p:spPr>
          <a:xfrm>
            <a:off x="274320" y="1325880"/>
            <a:ext cx="8595360" cy="60350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274320" y="1325880"/>
            <a:ext cx="64008" cy="603504"/>
          </a:xfrm>
          <a:prstGeom prst="rect">
            <a:avLst/>
          </a:prstGeom>
          <a:solidFill>
            <a:srgbClr val="2E74B5"/>
          </a:solidFill>
          <a:ln/>
        </p:spPr>
      </p:sp>
      <p:sp>
        <p:nvSpPr>
          <p:cNvPr id="8" name="Shape 6"/>
          <p:cNvSpPr/>
          <p:nvPr/>
        </p:nvSpPr>
        <p:spPr>
          <a:xfrm>
            <a:off x="384048" y="1435608"/>
            <a:ext cx="384048" cy="384048"/>
          </a:xfrm>
          <a:prstGeom prst="ellipse">
            <a:avLst/>
          </a:prstGeom>
          <a:solidFill>
            <a:srgbClr val="2E74B5"/>
          </a:solidFill>
          <a:ln w="12700">
            <a:solidFill>
              <a:srgbClr val="2E74B5"/>
            </a:solidFill>
            <a:prstDash val="solid"/>
          </a:ln>
        </p:spPr>
      </p:sp>
      <p:sp>
        <p:nvSpPr>
          <p:cNvPr id="9" name="Text 7"/>
          <p:cNvSpPr/>
          <p:nvPr/>
        </p:nvSpPr>
        <p:spPr>
          <a:xfrm>
            <a:off x="384048" y="1435608"/>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pic>
        <p:nvPicPr>
          <p:cNvPr id="10" name="Image 0" descr="preencoded.png">    </p:cNvPr>
          <p:cNvPicPr>
            <a:picLocks noChangeAspect="1"/>
          </p:cNvPicPr>
          <p:nvPr/>
        </p:nvPicPr>
        <p:blipFill>
          <a:blip r:embed="rId1"/>
          <a:stretch>
            <a:fillRect/>
          </a:stretch>
        </p:blipFill>
        <p:spPr>
          <a:xfrm>
            <a:off x="877824" y="1444752"/>
            <a:ext cx="347472" cy="347472"/>
          </a:xfrm>
          <a:prstGeom prst="rect">
            <a:avLst/>
          </a:prstGeom>
        </p:spPr>
      </p:pic>
      <p:sp>
        <p:nvSpPr>
          <p:cNvPr id="11" name="Shape 8"/>
          <p:cNvSpPr/>
          <p:nvPr/>
        </p:nvSpPr>
        <p:spPr>
          <a:xfrm>
            <a:off x="1316736" y="1380744"/>
            <a:ext cx="548640" cy="182880"/>
          </a:xfrm>
          <a:prstGeom prst="rect">
            <a:avLst/>
          </a:prstGeom>
          <a:solidFill>
            <a:srgbClr val="2E74B5"/>
          </a:solidFill>
          <a:ln/>
        </p:spPr>
      </p:sp>
      <p:sp>
        <p:nvSpPr>
          <p:cNvPr id="12" name="Text 9"/>
          <p:cNvSpPr/>
          <p:nvPr/>
        </p:nvSpPr>
        <p:spPr>
          <a:xfrm>
            <a:off x="1316736" y="1380744"/>
            <a:ext cx="548640" cy="18288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DÉFI</a:t>
            </a:r>
            <a:endParaRPr lang="en-US" sz="700" dirty="0"/>
          </a:p>
        </p:txBody>
      </p:sp>
      <p:sp>
        <p:nvSpPr>
          <p:cNvPr id="13" name="Text 10"/>
          <p:cNvSpPr/>
          <p:nvPr/>
        </p:nvSpPr>
        <p:spPr>
          <a:xfrm>
            <a:off x="1316736" y="1600200"/>
            <a:ext cx="3383280" cy="274320"/>
          </a:xfrm>
          <a:prstGeom prst="rect">
            <a:avLst/>
          </a:prstGeom>
          <a:noFill/>
          <a:ln/>
        </p:spPr>
        <p:txBody>
          <a:bodyPr wrap="square"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Précision des recommandations</a:t>
            </a:r>
            <a:endParaRPr lang="en-US" sz="1100" dirty="0"/>
          </a:p>
        </p:txBody>
      </p:sp>
      <p:pic>
        <p:nvPicPr>
          <p:cNvPr id="14" name="Image 1" descr="preencoded.png">    </p:cNvPr>
          <p:cNvPicPr>
            <a:picLocks noChangeAspect="1"/>
          </p:cNvPicPr>
          <p:nvPr/>
        </p:nvPicPr>
        <p:blipFill>
          <a:blip r:embed="rId2"/>
          <a:stretch>
            <a:fillRect/>
          </a:stretch>
        </p:blipFill>
        <p:spPr>
          <a:xfrm>
            <a:off x="4754880" y="1490472"/>
            <a:ext cx="256032" cy="256032"/>
          </a:xfrm>
          <a:prstGeom prst="rect">
            <a:avLst/>
          </a:prstGeom>
        </p:spPr>
      </p:pic>
      <p:sp>
        <p:nvSpPr>
          <p:cNvPr id="15" name="Shape 11"/>
          <p:cNvSpPr/>
          <p:nvPr/>
        </p:nvSpPr>
        <p:spPr>
          <a:xfrm>
            <a:off x="5102352" y="1380744"/>
            <a:ext cx="749808" cy="182880"/>
          </a:xfrm>
          <a:prstGeom prst="rect">
            <a:avLst/>
          </a:prstGeom>
          <a:solidFill>
            <a:srgbClr val="16A34A"/>
          </a:solidFill>
          <a:ln/>
        </p:spPr>
      </p:sp>
      <p:sp>
        <p:nvSpPr>
          <p:cNvPr id="16" name="Text 12"/>
          <p:cNvSpPr/>
          <p:nvPr/>
        </p:nvSpPr>
        <p:spPr>
          <a:xfrm>
            <a:off x="5102352" y="1380744"/>
            <a:ext cx="749808" cy="18288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SOLUTION</a:t>
            </a:r>
            <a:endParaRPr lang="en-US" sz="700" dirty="0"/>
          </a:p>
        </p:txBody>
      </p:sp>
      <p:sp>
        <p:nvSpPr>
          <p:cNvPr id="17" name="Text 13"/>
          <p:cNvSpPr/>
          <p:nvPr/>
        </p:nvSpPr>
        <p:spPr>
          <a:xfrm>
            <a:off x="5102352" y="1600200"/>
            <a:ext cx="3639312"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Filtrage hybride (collaboratif + contenu) + feedback utilisateur en continu</a:t>
            </a:r>
            <a:endParaRPr lang="en-US" sz="1050" dirty="0"/>
          </a:p>
        </p:txBody>
      </p:sp>
      <p:sp>
        <p:nvSpPr>
          <p:cNvPr id="18" name="Shape 14"/>
          <p:cNvSpPr/>
          <p:nvPr/>
        </p:nvSpPr>
        <p:spPr>
          <a:xfrm>
            <a:off x="274320" y="2029968"/>
            <a:ext cx="8595360" cy="60350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9" name="Shape 15"/>
          <p:cNvSpPr/>
          <p:nvPr/>
        </p:nvSpPr>
        <p:spPr>
          <a:xfrm>
            <a:off x="274320" y="2029968"/>
            <a:ext cx="64008" cy="603504"/>
          </a:xfrm>
          <a:prstGeom prst="rect">
            <a:avLst/>
          </a:prstGeom>
          <a:solidFill>
            <a:srgbClr val="DC2626"/>
          </a:solidFill>
          <a:ln/>
        </p:spPr>
      </p:sp>
      <p:sp>
        <p:nvSpPr>
          <p:cNvPr id="20" name="Shape 16"/>
          <p:cNvSpPr/>
          <p:nvPr/>
        </p:nvSpPr>
        <p:spPr>
          <a:xfrm>
            <a:off x="384048" y="2139696"/>
            <a:ext cx="384048" cy="384048"/>
          </a:xfrm>
          <a:prstGeom prst="ellipse">
            <a:avLst/>
          </a:prstGeom>
          <a:solidFill>
            <a:srgbClr val="DC2626"/>
          </a:solidFill>
          <a:ln w="12700">
            <a:solidFill>
              <a:srgbClr val="DC2626"/>
            </a:solidFill>
            <a:prstDash val="solid"/>
          </a:ln>
        </p:spPr>
      </p:sp>
      <p:sp>
        <p:nvSpPr>
          <p:cNvPr id="21" name="Text 17"/>
          <p:cNvSpPr/>
          <p:nvPr/>
        </p:nvSpPr>
        <p:spPr>
          <a:xfrm>
            <a:off x="384048" y="2139696"/>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pic>
        <p:nvPicPr>
          <p:cNvPr id="22" name="Image 2" descr="preencoded.png">    </p:cNvPr>
          <p:cNvPicPr>
            <a:picLocks noChangeAspect="1"/>
          </p:cNvPicPr>
          <p:nvPr/>
        </p:nvPicPr>
        <p:blipFill>
          <a:blip r:embed="rId3"/>
          <a:stretch>
            <a:fillRect/>
          </a:stretch>
        </p:blipFill>
        <p:spPr>
          <a:xfrm>
            <a:off x="877824" y="2148840"/>
            <a:ext cx="347472" cy="347472"/>
          </a:xfrm>
          <a:prstGeom prst="rect">
            <a:avLst/>
          </a:prstGeom>
        </p:spPr>
      </p:pic>
      <p:sp>
        <p:nvSpPr>
          <p:cNvPr id="23" name="Shape 18"/>
          <p:cNvSpPr/>
          <p:nvPr/>
        </p:nvSpPr>
        <p:spPr>
          <a:xfrm>
            <a:off x="1316736" y="2084832"/>
            <a:ext cx="548640" cy="182880"/>
          </a:xfrm>
          <a:prstGeom prst="rect">
            <a:avLst/>
          </a:prstGeom>
          <a:solidFill>
            <a:srgbClr val="DC2626"/>
          </a:solidFill>
          <a:ln/>
        </p:spPr>
      </p:sp>
      <p:sp>
        <p:nvSpPr>
          <p:cNvPr id="24" name="Text 19"/>
          <p:cNvSpPr/>
          <p:nvPr/>
        </p:nvSpPr>
        <p:spPr>
          <a:xfrm>
            <a:off x="1316736" y="2084832"/>
            <a:ext cx="548640" cy="18288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DÉFI</a:t>
            </a:r>
            <a:endParaRPr lang="en-US" sz="700" dirty="0"/>
          </a:p>
        </p:txBody>
      </p:sp>
      <p:sp>
        <p:nvSpPr>
          <p:cNvPr id="25" name="Text 20"/>
          <p:cNvSpPr/>
          <p:nvPr/>
        </p:nvSpPr>
        <p:spPr>
          <a:xfrm>
            <a:off x="1316736" y="2304288"/>
            <a:ext cx="3383280" cy="274320"/>
          </a:xfrm>
          <a:prstGeom prst="rect">
            <a:avLst/>
          </a:prstGeom>
          <a:noFill/>
          <a:ln/>
        </p:spPr>
        <p:txBody>
          <a:bodyPr wrap="square"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Protection des données &amp; RGPD</a:t>
            </a:r>
            <a:endParaRPr lang="en-US" sz="1100" dirty="0"/>
          </a:p>
        </p:txBody>
      </p:sp>
      <p:pic>
        <p:nvPicPr>
          <p:cNvPr id="26" name="Image 3" descr="preencoded.png">    </p:cNvPr>
          <p:cNvPicPr>
            <a:picLocks noChangeAspect="1"/>
          </p:cNvPicPr>
          <p:nvPr/>
        </p:nvPicPr>
        <p:blipFill>
          <a:blip r:embed="rId4"/>
          <a:stretch>
            <a:fillRect/>
          </a:stretch>
        </p:blipFill>
        <p:spPr>
          <a:xfrm>
            <a:off x="4754880" y="2194560"/>
            <a:ext cx="256032" cy="256032"/>
          </a:xfrm>
          <a:prstGeom prst="rect">
            <a:avLst/>
          </a:prstGeom>
        </p:spPr>
      </p:pic>
      <p:sp>
        <p:nvSpPr>
          <p:cNvPr id="27" name="Shape 21"/>
          <p:cNvSpPr/>
          <p:nvPr/>
        </p:nvSpPr>
        <p:spPr>
          <a:xfrm>
            <a:off x="5102352" y="2084832"/>
            <a:ext cx="749808" cy="182880"/>
          </a:xfrm>
          <a:prstGeom prst="rect">
            <a:avLst/>
          </a:prstGeom>
          <a:solidFill>
            <a:srgbClr val="16A34A"/>
          </a:solidFill>
          <a:ln/>
        </p:spPr>
      </p:sp>
      <p:sp>
        <p:nvSpPr>
          <p:cNvPr id="28" name="Text 22"/>
          <p:cNvSpPr/>
          <p:nvPr/>
        </p:nvSpPr>
        <p:spPr>
          <a:xfrm>
            <a:off x="5102352" y="2084832"/>
            <a:ext cx="749808" cy="18288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SOLUTION</a:t>
            </a:r>
            <a:endParaRPr lang="en-US" sz="700" dirty="0"/>
          </a:p>
        </p:txBody>
      </p:sp>
      <p:sp>
        <p:nvSpPr>
          <p:cNvPr id="29" name="Text 23"/>
          <p:cNvSpPr/>
          <p:nvPr/>
        </p:nvSpPr>
        <p:spPr>
          <a:xfrm>
            <a:off x="5102352" y="2304288"/>
            <a:ext cx="3639312"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Chiffrement AES-256 · Consentement explicite · Conformité GDPR &amp; CCPA</a:t>
            </a:r>
            <a:endParaRPr lang="en-US" sz="1050" dirty="0"/>
          </a:p>
        </p:txBody>
      </p:sp>
      <p:sp>
        <p:nvSpPr>
          <p:cNvPr id="30" name="Shape 24"/>
          <p:cNvSpPr/>
          <p:nvPr/>
        </p:nvSpPr>
        <p:spPr>
          <a:xfrm>
            <a:off x="274320" y="2734056"/>
            <a:ext cx="8595360" cy="60350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1" name="Shape 25"/>
          <p:cNvSpPr/>
          <p:nvPr/>
        </p:nvSpPr>
        <p:spPr>
          <a:xfrm>
            <a:off x="274320" y="2734056"/>
            <a:ext cx="64008" cy="603504"/>
          </a:xfrm>
          <a:prstGeom prst="rect">
            <a:avLst/>
          </a:prstGeom>
          <a:solidFill>
            <a:srgbClr val="EA580C"/>
          </a:solidFill>
          <a:ln/>
        </p:spPr>
      </p:sp>
      <p:sp>
        <p:nvSpPr>
          <p:cNvPr id="32" name="Shape 26"/>
          <p:cNvSpPr/>
          <p:nvPr/>
        </p:nvSpPr>
        <p:spPr>
          <a:xfrm>
            <a:off x="384048" y="2843784"/>
            <a:ext cx="384048" cy="384048"/>
          </a:xfrm>
          <a:prstGeom prst="ellipse">
            <a:avLst/>
          </a:prstGeom>
          <a:solidFill>
            <a:srgbClr val="EA580C"/>
          </a:solidFill>
          <a:ln w="12700">
            <a:solidFill>
              <a:srgbClr val="EA580C"/>
            </a:solidFill>
            <a:prstDash val="solid"/>
          </a:ln>
        </p:spPr>
      </p:sp>
      <p:sp>
        <p:nvSpPr>
          <p:cNvPr id="33" name="Text 27"/>
          <p:cNvSpPr/>
          <p:nvPr/>
        </p:nvSpPr>
        <p:spPr>
          <a:xfrm>
            <a:off x="384048" y="284378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pic>
        <p:nvPicPr>
          <p:cNvPr id="34" name="Image 4" descr="preencoded.png">    </p:cNvPr>
          <p:cNvPicPr>
            <a:picLocks noChangeAspect="1"/>
          </p:cNvPicPr>
          <p:nvPr/>
        </p:nvPicPr>
        <p:blipFill>
          <a:blip r:embed="rId5"/>
          <a:stretch>
            <a:fillRect/>
          </a:stretch>
        </p:blipFill>
        <p:spPr>
          <a:xfrm>
            <a:off x="877824" y="2852928"/>
            <a:ext cx="347472" cy="347472"/>
          </a:xfrm>
          <a:prstGeom prst="rect">
            <a:avLst/>
          </a:prstGeom>
        </p:spPr>
      </p:pic>
      <p:sp>
        <p:nvSpPr>
          <p:cNvPr id="35" name="Shape 28"/>
          <p:cNvSpPr/>
          <p:nvPr/>
        </p:nvSpPr>
        <p:spPr>
          <a:xfrm>
            <a:off x="1316736" y="2788920"/>
            <a:ext cx="548640" cy="182880"/>
          </a:xfrm>
          <a:prstGeom prst="rect">
            <a:avLst/>
          </a:prstGeom>
          <a:solidFill>
            <a:srgbClr val="EA580C"/>
          </a:solidFill>
          <a:ln/>
        </p:spPr>
      </p:sp>
      <p:sp>
        <p:nvSpPr>
          <p:cNvPr id="36" name="Text 29"/>
          <p:cNvSpPr/>
          <p:nvPr/>
        </p:nvSpPr>
        <p:spPr>
          <a:xfrm>
            <a:off x="1316736" y="2788920"/>
            <a:ext cx="548640" cy="18288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DÉFI</a:t>
            </a:r>
            <a:endParaRPr lang="en-US" sz="700" dirty="0"/>
          </a:p>
        </p:txBody>
      </p:sp>
      <p:sp>
        <p:nvSpPr>
          <p:cNvPr id="37" name="Text 30"/>
          <p:cNvSpPr/>
          <p:nvPr/>
        </p:nvSpPr>
        <p:spPr>
          <a:xfrm>
            <a:off x="1316736" y="3008376"/>
            <a:ext cx="3383280" cy="274320"/>
          </a:xfrm>
          <a:prstGeom prst="rect">
            <a:avLst/>
          </a:prstGeom>
          <a:noFill/>
          <a:ln/>
        </p:spPr>
        <p:txBody>
          <a:bodyPr wrap="square"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Scalabilité du moteur IA</a:t>
            </a:r>
            <a:endParaRPr lang="en-US" sz="1100" dirty="0"/>
          </a:p>
        </p:txBody>
      </p:sp>
      <p:pic>
        <p:nvPicPr>
          <p:cNvPr id="38" name="Image 5" descr="preencoded.png">    </p:cNvPr>
          <p:cNvPicPr>
            <a:picLocks noChangeAspect="1"/>
          </p:cNvPicPr>
          <p:nvPr/>
        </p:nvPicPr>
        <p:blipFill>
          <a:blip r:embed="rId6"/>
          <a:stretch>
            <a:fillRect/>
          </a:stretch>
        </p:blipFill>
        <p:spPr>
          <a:xfrm>
            <a:off x="4754880" y="2898648"/>
            <a:ext cx="256032" cy="256032"/>
          </a:xfrm>
          <a:prstGeom prst="rect">
            <a:avLst/>
          </a:prstGeom>
        </p:spPr>
      </p:pic>
      <p:sp>
        <p:nvSpPr>
          <p:cNvPr id="39" name="Shape 31"/>
          <p:cNvSpPr/>
          <p:nvPr/>
        </p:nvSpPr>
        <p:spPr>
          <a:xfrm>
            <a:off x="5102352" y="2788920"/>
            <a:ext cx="749808" cy="182880"/>
          </a:xfrm>
          <a:prstGeom prst="rect">
            <a:avLst/>
          </a:prstGeom>
          <a:solidFill>
            <a:srgbClr val="16A34A"/>
          </a:solidFill>
          <a:ln/>
        </p:spPr>
      </p:sp>
      <p:sp>
        <p:nvSpPr>
          <p:cNvPr id="40" name="Text 32"/>
          <p:cNvSpPr/>
          <p:nvPr/>
        </p:nvSpPr>
        <p:spPr>
          <a:xfrm>
            <a:off x="5102352" y="2788920"/>
            <a:ext cx="749808" cy="18288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SOLUTION</a:t>
            </a:r>
            <a:endParaRPr lang="en-US" sz="700" dirty="0"/>
          </a:p>
        </p:txBody>
      </p:sp>
      <p:sp>
        <p:nvSpPr>
          <p:cNvPr id="41" name="Text 33"/>
          <p:cNvSpPr/>
          <p:nvPr/>
        </p:nvSpPr>
        <p:spPr>
          <a:xfrm>
            <a:off x="5102352" y="3008376"/>
            <a:ext cx="3639312"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Redis (cache) · Autoscaling Kubernetes HPA · Architecture cloud-native</a:t>
            </a:r>
            <a:endParaRPr lang="en-US" sz="1050" dirty="0"/>
          </a:p>
        </p:txBody>
      </p:sp>
      <p:sp>
        <p:nvSpPr>
          <p:cNvPr id="42" name="Shape 34"/>
          <p:cNvSpPr/>
          <p:nvPr/>
        </p:nvSpPr>
        <p:spPr>
          <a:xfrm>
            <a:off x="274320" y="3438144"/>
            <a:ext cx="8595360" cy="60350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3" name="Shape 35"/>
          <p:cNvSpPr/>
          <p:nvPr/>
        </p:nvSpPr>
        <p:spPr>
          <a:xfrm>
            <a:off x="274320" y="3438144"/>
            <a:ext cx="64008" cy="603504"/>
          </a:xfrm>
          <a:prstGeom prst="rect">
            <a:avLst/>
          </a:prstGeom>
          <a:solidFill>
            <a:srgbClr val="EA580C"/>
          </a:solidFill>
          <a:ln/>
        </p:spPr>
      </p:sp>
      <p:sp>
        <p:nvSpPr>
          <p:cNvPr id="44" name="Shape 36"/>
          <p:cNvSpPr/>
          <p:nvPr/>
        </p:nvSpPr>
        <p:spPr>
          <a:xfrm>
            <a:off x="384048" y="3547872"/>
            <a:ext cx="384048" cy="384048"/>
          </a:xfrm>
          <a:prstGeom prst="ellipse">
            <a:avLst/>
          </a:prstGeom>
          <a:solidFill>
            <a:srgbClr val="EA580C"/>
          </a:solidFill>
          <a:ln w="12700">
            <a:solidFill>
              <a:srgbClr val="EA580C"/>
            </a:solidFill>
            <a:prstDash val="solid"/>
          </a:ln>
        </p:spPr>
      </p:sp>
      <p:sp>
        <p:nvSpPr>
          <p:cNvPr id="45" name="Text 37"/>
          <p:cNvSpPr/>
          <p:nvPr/>
        </p:nvSpPr>
        <p:spPr>
          <a:xfrm>
            <a:off x="384048" y="354787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pic>
        <p:nvPicPr>
          <p:cNvPr id="46" name="Image 6" descr="preencoded.png">    </p:cNvPr>
          <p:cNvPicPr>
            <a:picLocks noChangeAspect="1"/>
          </p:cNvPicPr>
          <p:nvPr/>
        </p:nvPicPr>
        <p:blipFill>
          <a:blip r:embed="rId7"/>
          <a:stretch>
            <a:fillRect/>
          </a:stretch>
        </p:blipFill>
        <p:spPr>
          <a:xfrm>
            <a:off x="877824" y="3557016"/>
            <a:ext cx="347472" cy="347472"/>
          </a:xfrm>
          <a:prstGeom prst="rect">
            <a:avLst/>
          </a:prstGeom>
        </p:spPr>
      </p:pic>
      <p:sp>
        <p:nvSpPr>
          <p:cNvPr id="47" name="Shape 38"/>
          <p:cNvSpPr/>
          <p:nvPr/>
        </p:nvSpPr>
        <p:spPr>
          <a:xfrm>
            <a:off x="1316736" y="3493008"/>
            <a:ext cx="548640" cy="182880"/>
          </a:xfrm>
          <a:prstGeom prst="rect">
            <a:avLst/>
          </a:prstGeom>
          <a:solidFill>
            <a:srgbClr val="EA580C"/>
          </a:solidFill>
          <a:ln/>
        </p:spPr>
      </p:sp>
      <p:sp>
        <p:nvSpPr>
          <p:cNvPr id="48" name="Text 39"/>
          <p:cNvSpPr/>
          <p:nvPr/>
        </p:nvSpPr>
        <p:spPr>
          <a:xfrm>
            <a:off x="1316736" y="3493008"/>
            <a:ext cx="548640" cy="18288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DÉFI</a:t>
            </a:r>
            <a:endParaRPr lang="en-US" sz="700" dirty="0"/>
          </a:p>
        </p:txBody>
      </p:sp>
      <p:sp>
        <p:nvSpPr>
          <p:cNvPr id="49" name="Text 40"/>
          <p:cNvSpPr/>
          <p:nvPr/>
        </p:nvSpPr>
        <p:spPr>
          <a:xfrm>
            <a:off x="1316736" y="3712464"/>
            <a:ext cx="3383280" cy="274320"/>
          </a:xfrm>
          <a:prstGeom prst="rect">
            <a:avLst/>
          </a:prstGeom>
          <a:noFill/>
          <a:ln/>
        </p:spPr>
        <p:txBody>
          <a:bodyPr wrap="square"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Suivi temps réel</a:t>
            </a:r>
            <a:endParaRPr lang="en-US" sz="1100" dirty="0"/>
          </a:p>
        </p:txBody>
      </p:sp>
      <p:pic>
        <p:nvPicPr>
          <p:cNvPr id="50" name="Image 7" descr="preencoded.png">    </p:cNvPr>
          <p:cNvPicPr>
            <a:picLocks noChangeAspect="1"/>
          </p:cNvPicPr>
          <p:nvPr/>
        </p:nvPicPr>
        <p:blipFill>
          <a:blip r:embed="rId8"/>
          <a:stretch>
            <a:fillRect/>
          </a:stretch>
        </p:blipFill>
        <p:spPr>
          <a:xfrm>
            <a:off x="4754880" y="3602736"/>
            <a:ext cx="256032" cy="256032"/>
          </a:xfrm>
          <a:prstGeom prst="rect">
            <a:avLst/>
          </a:prstGeom>
        </p:spPr>
      </p:pic>
      <p:sp>
        <p:nvSpPr>
          <p:cNvPr id="51" name="Shape 41"/>
          <p:cNvSpPr/>
          <p:nvPr/>
        </p:nvSpPr>
        <p:spPr>
          <a:xfrm>
            <a:off x="5102352" y="3493008"/>
            <a:ext cx="749808" cy="182880"/>
          </a:xfrm>
          <a:prstGeom prst="rect">
            <a:avLst/>
          </a:prstGeom>
          <a:solidFill>
            <a:srgbClr val="16A34A"/>
          </a:solidFill>
          <a:ln/>
        </p:spPr>
      </p:sp>
      <p:sp>
        <p:nvSpPr>
          <p:cNvPr id="52" name="Text 42"/>
          <p:cNvSpPr/>
          <p:nvPr/>
        </p:nvSpPr>
        <p:spPr>
          <a:xfrm>
            <a:off x="5102352" y="3493008"/>
            <a:ext cx="749808" cy="18288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SOLUTION</a:t>
            </a:r>
            <a:endParaRPr lang="en-US" sz="700" dirty="0"/>
          </a:p>
        </p:txBody>
      </p:sp>
      <p:sp>
        <p:nvSpPr>
          <p:cNvPr id="53" name="Text 43"/>
          <p:cNvSpPr/>
          <p:nvPr/>
        </p:nvSpPr>
        <p:spPr>
          <a:xfrm>
            <a:off x="5102352" y="3712464"/>
            <a:ext cx="3639312"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WebSockets bidirectionnels · Firebase Realtime DB · Triggers PostgreSQL auto</a:t>
            </a:r>
            <a:endParaRPr lang="en-US" sz="1050" dirty="0"/>
          </a:p>
        </p:txBody>
      </p:sp>
      <p:sp>
        <p:nvSpPr>
          <p:cNvPr id="54" name="Shape 44"/>
          <p:cNvSpPr/>
          <p:nvPr/>
        </p:nvSpPr>
        <p:spPr>
          <a:xfrm>
            <a:off x="274320" y="4142232"/>
            <a:ext cx="8595360" cy="603504"/>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55" name="Shape 45"/>
          <p:cNvSpPr/>
          <p:nvPr/>
        </p:nvSpPr>
        <p:spPr>
          <a:xfrm>
            <a:off x="274320" y="4142232"/>
            <a:ext cx="64008" cy="603504"/>
          </a:xfrm>
          <a:prstGeom prst="rect">
            <a:avLst/>
          </a:prstGeom>
          <a:solidFill>
            <a:srgbClr val="2B5482"/>
          </a:solidFill>
          <a:ln/>
        </p:spPr>
      </p:sp>
      <p:sp>
        <p:nvSpPr>
          <p:cNvPr id="56" name="Shape 46"/>
          <p:cNvSpPr/>
          <p:nvPr/>
        </p:nvSpPr>
        <p:spPr>
          <a:xfrm>
            <a:off x="384048" y="4251960"/>
            <a:ext cx="384048" cy="384048"/>
          </a:xfrm>
          <a:prstGeom prst="ellipse">
            <a:avLst/>
          </a:prstGeom>
          <a:solidFill>
            <a:srgbClr val="2B5482"/>
          </a:solidFill>
          <a:ln w="12700">
            <a:solidFill>
              <a:srgbClr val="2B5482"/>
            </a:solidFill>
            <a:prstDash val="solid"/>
          </a:ln>
        </p:spPr>
      </p:sp>
      <p:sp>
        <p:nvSpPr>
          <p:cNvPr id="57" name="Text 47"/>
          <p:cNvSpPr/>
          <p:nvPr/>
        </p:nvSpPr>
        <p:spPr>
          <a:xfrm>
            <a:off x="384048" y="42519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pic>
        <p:nvPicPr>
          <p:cNvPr id="58" name="Image 8" descr="preencoded.png">    </p:cNvPr>
          <p:cNvPicPr>
            <a:picLocks noChangeAspect="1"/>
          </p:cNvPicPr>
          <p:nvPr/>
        </p:nvPicPr>
        <p:blipFill>
          <a:blip r:embed="rId9"/>
          <a:stretch>
            <a:fillRect/>
          </a:stretch>
        </p:blipFill>
        <p:spPr>
          <a:xfrm>
            <a:off x="877824" y="4261104"/>
            <a:ext cx="347472" cy="347472"/>
          </a:xfrm>
          <a:prstGeom prst="rect">
            <a:avLst/>
          </a:prstGeom>
        </p:spPr>
      </p:pic>
      <p:sp>
        <p:nvSpPr>
          <p:cNvPr id="59" name="Shape 48"/>
          <p:cNvSpPr/>
          <p:nvPr/>
        </p:nvSpPr>
        <p:spPr>
          <a:xfrm>
            <a:off x="1316736" y="4197096"/>
            <a:ext cx="548640" cy="182880"/>
          </a:xfrm>
          <a:prstGeom prst="rect">
            <a:avLst/>
          </a:prstGeom>
          <a:solidFill>
            <a:srgbClr val="2B5482"/>
          </a:solidFill>
          <a:ln/>
        </p:spPr>
      </p:sp>
      <p:sp>
        <p:nvSpPr>
          <p:cNvPr id="60" name="Text 49"/>
          <p:cNvSpPr/>
          <p:nvPr/>
        </p:nvSpPr>
        <p:spPr>
          <a:xfrm>
            <a:off x="1316736" y="4197096"/>
            <a:ext cx="548640" cy="18288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DÉFI</a:t>
            </a:r>
            <a:endParaRPr lang="en-US" sz="700" dirty="0"/>
          </a:p>
        </p:txBody>
      </p:sp>
      <p:sp>
        <p:nvSpPr>
          <p:cNvPr id="61" name="Text 50"/>
          <p:cNvSpPr/>
          <p:nvPr/>
        </p:nvSpPr>
        <p:spPr>
          <a:xfrm>
            <a:off x="1316736" y="4416552"/>
            <a:ext cx="3383280" cy="274320"/>
          </a:xfrm>
          <a:prstGeom prst="rect">
            <a:avLst/>
          </a:prstGeom>
          <a:noFill/>
          <a:ln/>
        </p:spPr>
        <p:txBody>
          <a:bodyPr wrap="square" rtlCol="0" anchor="ctr"/>
          <a:lstStyle/>
          <a:p>
            <a:pPr indent="0" marL="0">
              <a:buNone/>
            </a:pPr>
            <a:r>
              <a:rPr lang="en-US" sz="1100" b="1" dirty="0">
                <a:solidFill>
                  <a:srgbClr val="1B3A5C"/>
                </a:solidFill>
                <a:latin typeface="Calibri" pitchFamily="34" charset="0"/>
                <a:ea typeface="Calibri" pitchFamily="34" charset="-122"/>
                <a:cs typeface="Calibri" pitchFamily="34" charset="-120"/>
              </a:rPr>
              <a:t>Coût stockage ressources</a:t>
            </a:r>
            <a:endParaRPr lang="en-US" sz="1100" dirty="0"/>
          </a:p>
        </p:txBody>
      </p:sp>
      <p:pic>
        <p:nvPicPr>
          <p:cNvPr id="62" name="Image 9" descr="preencoded.png">    </p:cNvPr>
          <p:cNvPicPr>
            <a:picLocks noChangeAspect="1"/>
          </p:cNvPicPr>
          <p:nvPr/>
        </p:nvPicPr>
        <p:blipFill>
          <a:blip r:embed="rId10"/>
          <a:stretch>
            <a:fillRect/>
          </a:stretch>
        </p:blipFill>
        <p:spPr>
          <a:xfrm>
            <a:off x="4754880" y="4306824"/>
            <a:ext cx="256032" cy="256032"/>
          </a:xfrm>
          <a:prstGeom prst="rect">
            <a:avLst/>
          </a:prstGeom>
        </p:spPr>
      </p:pic>
      <p:sp>
        <p:nvSpPr>
          <p:cNvPr id="63" name="Shape 51"/>
          <p:cNvSpPr/>
          <p:nvPr/>
        </p:nvSpPr>
        <p:spPr>
          <a:xfrm>
            <a:off x="5102352" y="4197096"/>
            <a:ext cx="749808" cy="182880"/>
          </a:xfrm>
          <a:prstGeom prst="rect">
            <a:avLst/>
          </a:prstGeom>
          <a:solidFill>
            <a:srgbClr val="16A34A"/>
          </a:solidFill>
          <a:ln/>
        </p:spPr>
      </p:sp>
      <p:sp>
        <p:nvSpPr>
          <p:cNvPr id="64" name="Text 52"/>
          <p:cNvSpPr/>
          <p:nvPr/>
        </p:nvSpPr>
        <p:spPr>
          <a:xfrm>
            <a:off x="5102352" y="4197096"/>
            <a:ext cx="749808" cy="182880"/>
          </a:xfrm>
          <a:prstGeom prst="rect">
            <a:avLst/>
          </a:prstGeom>
          <a:noFill/>
          <a:ln/>
        </p:spPr>
        <p:txBody>
          <a:bodyPr wrap="square"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SOLUTION</a:t>
            </a:r>
            <a:endParaRPr lang="en-US" sz="700" dirty="0"/>
          </a:p>
        </p:txBody>
      </p:sp>
      <p:sp>
        <p:nvSpPr>
          <p:cNvPr id="65" name="Text 53"/>
          <p:cNvSpPr/>
          <p:nvPr/>
        </p:nvSpPr>
        <p:spPr>
          <a:xfrm>
            <a:off x="5102352" y="4416552"/>
            <a:ext cx="3639312" cy="274320"/>
          </a:xfrm>
          <a:prstGeom prst="rect">
            <a:avLst/>
          </a:prstGeom>
          <a:noFill/>
          <a:ln/>
        </p:spPr>
        <p:txBody>
          <a:bodyPr wrap="square" rtlCol="0" anchor="ctr"/>
          <a:lstStyle/>
          <a:p>
            <a:pPr indent="0" marL="0">
              <a:buNone/>
            </a:pPr>
            <a:r>
              <a:rPr lang="en-US" sz="1050" dirty="0">
                <a:solidFill>
                  <a:srgbClr val="94A3B8"/>
                </a:solidFill>
                <a:latin typeface="Calibri" pitchFamily="34" charset="0"/>
                <a:ea typeface="Calibri" pitchFamily="34" charset="-122"/>
                <a:cs typeface="Calibri" pitchFamily="34" charset="-120"/>
              </a:rPr>
              <a:t>AWS S3 / Azure Blob Storage · Gestion cycle de vie des données · CDN</a:t>
            </a:r>
            <a:endParaRPr lang="en-US" sz="1050" dirty="0"/>
          </a:p>
        </p:txBody>
      </p:sp>
      <p:sp>
        <p:nvSpPr>
          <p:cNvPr id="66" name="Shape 54"/>
          <p:cNvSpPr/>
          <p:nvPr/>
        </p:nvSpPr>
        <p:spPr>
          <a:xfrm>
            <a:off x="0" y="4956048"/>
            <a:ext cx="9144000" cy="187452"/>
          </a:xfrm>
          <a:prstGeom prst="rect">
            <a:avLst/>
          </a:prstGeom>
          <a:solidFill>
            <a:srgbClr val="E2E8F0"/>
          </a:solidFill>
          <a:ln/>
        </p:spPr>
      </p:sp>
      <p:sp>
        <p:nvSpPr>
          <p:cNvPr id="67" name="Text 55"/>
          <p:cNvSpPr/>
          <p:nvPr/>
        </p:nvSpPr>
        <p:spPr>
          <a:xfrm>
            <a:off x="365760" y="4969764"/>
            <a:ext cx="6400800" cy="164592"/>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Plateforme Éducative Intelligente — IA &amp; Microservices</a:t>
            </a:r>
            <a:endParaRPr lang="en-US" sz="850" dirty="0"/>
          </a:p>
        </p:txBody>
      </p:sp>
      <p:sp>
        <p:nvSpPr>
          <p:cNvPr id="68" name="Text 56"/>
          <p:cNvSpPr/>
          <p:nvPr/>
        </p:nvSpPr>
        <p:spPr>
          <a:xfrm>
            <a:off x="0" y="4969764"/>
            <a:ext cx="8778240" cy="164592"/>
          </a:xfrm>
          <a:prstGeom prst="rect">
            <a:avLst/>
          </a:prstGeom>
          <a:noFill/>
          <a:ln/>
        </p:spPr>
        <p:txBody>
          <a:bodyPr wrap="square"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09 / 12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B3A5C"/>
          </a:solidFill>
          <a:ln/>
        </p:spPr>
      </p:sp>
      <p:sp>
        <p:nvSpPr>
          <p:cNvPr id="3" name="Shape 1"/>
          <p:cNvSpPr/>
          <p:nvPr/>
        </p:nvSpPr>
        <p:spPr>
          <a:xfrm>
            <a:off x="0" y="1161288"/>
            <a:ext cx="9144000" cy="54864"/>
          </a:xfrm>
          <a:prstGeom prst="rect">
            <a:avLst/>
          </a:prstGeom>
          <a:solidFill>
            <a:srgbClr val="2E74B5"/>
          </a:solidFill>
          <a:ln/>
        </p:spPr>
      </p:sp>
      <p:sp>
        <p:nvSpPr>
          <p:cNvPr id="4" name="Text 2"/>
          <p:cNvSpPr/>
          <p:nvPr/>
        </p:nvSpPr>
        <p:spPr>
          <a:xfrm>
            <a:off x="365760" y="137160"/>
            <a:ext cx="841248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CALENDRIER — 6 SEMAINES</a:t>
            </a:r>
            <a:endParaRPr lang="en-US" sz="2400" dirty="0"/>
          </a:p>
        </p:txBody>
      </p:sp>
      <p:sp>
        <p:nvSpPr>
          <p:cNvPr id="5" name="Text 3"/>
          <p:cNvSpPr/>
          <p:nvPr/>
        </p:nvSpPr>
        <p:spPr>
          <a:xfrm>
            <a:off x="365760" y="713232"/>
            <a:ext cx="8412480" cy="36576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De la conception à la livraison finale sur le cloud</a:t>
            </a:r>
            <a:endParaRPr lang="en-US" sz="1200" dirty="0"/>
          </a:p>
        </p:txBody>
      </p:sp>
      <p:sp>
        <p:nvSpPr>
          <p:cNvPr id="6" name="Shape 4"/>
          <p:cNvSpPr/>
          <p:nvPr/>
        </p:nvSpPr>
        <p:spPr>
          <a:xfrm>
            <a:off x="274320" y="1298448"/>
            <a:ext cx="1353312" cy="3493008"/>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274320" y="1298448"/>
            <a:ext cx="1353312" cy="658368"/>
          </a:xfrm>
          <a:prstGeom prst="rect">
            <a:avLst/>
          </a:prstGeom>
          <a:solidFill>
            <a:srgbClr val="2E74B5"/>
          </a:solidFill>
          <a:ln/>
        </p:spPr>
      </p:sp>
      <p:sp>
        <p:nvSpPr>
          <p:cNvPr id="8" name="Text 6"/>
          <p:cNvSpPr/>
          <p:nvPr/>
        </p:nvSpPr>
        <p:spPr>
          <a:xfrm>
            <a:off x="274320" y="1344168"/>
            <a:ext cx="1353312" cy="5943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S1</a:t>
            </a:r>
            <a:endParaRPr lang="en-US" sz="2600" dirty="0"/>
          </a:p>
        </p:txBody>
      </p:sp>
      <p:sp>
        <p:nvSpPr>
          <p:cNvPr id="9" name="Shape 7"/>
          <p:cNvSpPr/>
          <p:nvPr/>
        </p:nvSpPr>
        <p:spPr>
          <a:xfrm>
            <a:off x="384048" y="2029968"/>
            <a:ext cx="1133856" cy="36576"/>
          </a:xfrm>
          <a:prstGeom prst="rect">
            <a:avLst/>
          </a:prstGeom>
          <a:solidFill>
            <a:srgbClr val="E2E8F0"/>
          </a:solidFill>
          <a:ln/>
        </p:spPr>
      </p:sp>
      <p:sp>
        <p:nvSpPr>
          <p:cNvPr id="10" name="Text 8"/>
          <p:cNvSpPr/>
          <p:nvPr/>
        </p:nvSpPr>
        <p:spPr>
          <a:xfrm>
            <a:off x="347472" y="2139696"/>
            <a:ext cx="1207008" cy="566928"/>
          </a:xfrm>
          <a:prstGeom prst="rect">
            <a:avLst/>
          </a:prstGeom>
          <a:noFill/>
          <a:ln/>
        </p:spPr>
        <p:txBody>
          <a:bodyPr wrap="square" rtlCol="0" anchor="ctr"/>
          <a:lstStyle/>
          <a:p>
            <a:pPr algn="ctr" indent="0" marL="0">
              <a:buNone/>
            </a:pPr>
            <a:r>
              <a:rPr lang="en-US" sz="1100" b="1" dirty="0">
                <a:solidFill>
                  <a:srgbClr val="1B3A5C"/>
                </a:solidFill>
                <a:latin typeface="Calibri" pitchFamily="34" charset="0"/>
                <a:ea typeface="Calibri" pitchFamily="34" charset="-122"/>
                <a:cs typeface="Calibri" pitchFamily="34" charset="-120"/>
              </a:rPr>
              <a:t>Architecture</a:t>
            </a:r>
            <a:endParaRPr lang="en-US" sz="1100" dirty="0"/>
          </a:p>
          <a:p>
            <a:pPr algn="ctr" indent="0" marL="0">
              <a:buNone/>
            </a:pPr>
            <a:r>
              <a:rPr lang="en-US" sz="1100" b="1" dirty="0">
                <a:solidFill>
                  <a:srgbClr val="1B3A5C"/>
                </a:solidFill>
                <a:latin typeface="Calibri" pitchFamily="34" charset="0"/>
                <a:ea typeface="Calibri" pitchFamily="34" charset="-122"/>
                <a:cs typeface="Calibri" pitchFamily="34" charset="-120"/>
              </a:rPr>
              <a:t>&amp; Exigences</a:t>
            </a:r>
            <a:endParaRPr lang="en-US" sz="1100" dirty="0"/>
          </a:p>
        </p:txBody>
      </p:sp>
      <p:sp>
        <p:nvSpPr>
          <p:cNvPr id="11" name="Shape 9"/>
          <p:cNvSpPr/>
          <p:nvPr/>
        </p:nvSpPr>
        <p:spPr>
          <a:xfrm>
            <a:off x="384048" y="2761488"/>
            <a:ext cx="1133856" cy="36576"/>
          </a:xfrm>
          <a:prstGeom prst="rect">
            <a:avLst/>
          </a:prstGeom>
          <a:solidFill>
            <a:srgbClr val="E2E8F0"/>
          </a:solidFill>
          <a:ln/>
        </p:spPr>
      </p:sp>
      <p:sp>
        <p:nvSpPr>
          <p:cNvPr id="12" name="Text 10"/>
          <p:cNvSpPr/>
          <p:nvPr/>
        </p:nvSpPr>
        <p:spPr>
          <a:xfrm>
            <a:off x="347472" y="2871216"/>
            <a:ext cx="1207008" cy="841248"/>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Microservices · Schéma BDD</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Conception technique</a:t>
            </a:r>
            <a:endParaRPr lang="en-US" sz="950" dirty="0"/>
          </a:p>
        </p:txBody>
      </p:sp>
      <p:sp>
        <p:nvSpPr>
          <p:cNvPr id="13" name="Shape 11"/>
          <p:cNvSpPr/>
          <p:nvPr/>
        </p:nvSpPr>
        <p:spPr>
          <a:xfrm>
            <a:off x="1737360" y="1298448"/>
            <a:ext cx="1353312" cy="3493008"/>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14" name="Shape 12"/>
          <p:cNvSpPr/>
          <p:nvPr/>
        </p:nvSpPr>
        <p:spPr>
          <a:xfrm>
            <a:off x="1737360" y="1298448"/>
            <a:ext cx="1353312" cy="658368"/>
          </a:xfrm>
          <a:prstGeom prst="rect">
            <a:avLst/>
          </a:prstGeom>
          <a:solidFill>
            <a:srgbClr val="2B5482"/>
          </a:solidFill>
          <a:ln/>
        </p:spPr>
      </p:sp>
      <p:sp>
        <p:nvSpPr>
          <p:cNvPr id="15" name="Text 13"/>
          <p:cNvSpPr/>
          <p:nvPr/>
        </p:nvSpPr>
        <p:spPr>
          <a:xfrm>
            <a:off x="1737360" y="1344168"/>
            <a:ext cx="1353312" cy="5943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S2</a:t>
            </a:r>
            <a:endParaRPr lang="en-US" sz="2600" dirty="0"/>
          </a:p>
        </p:txBody>
      </p:sp>
      <p:sp>
        <p:nvSpPr>
          <p:cNvPr id="16" name="Shape 14"/>
          <p:cNvSpPr/>
          <p:nvPr/>
        </p:nvSpPr>
        <p:spPr>
          <a:xfrm>
            <a:off x="1847088" y="2029968"/>
            <a:ext cx="1133856" cy="36576"/>
          </a:xfrm>
          <a:prstGeom prst="rect">
            <a:avLst/>
          </a:prstGeom>
          <a:solidFill>
            <a:srgbClr val="E2E8F0"/>
          </a:solidFill>
          <a:ln/>
        </p:spPr>
      </p:sp>
      <p:sp>
        <p:nvSpPr>
          <p:cNvPr id="17" name="Text 15"/>
          <p:cNvSpPr/>
          <p:nvPr/>
        </p:nvSpPr>
        <p:spPr>
          <a:xfrm>
            <a:off x="1810512" y="2139696"/>
            <a:ext cx="1207008" cy="566928"/>
          </a:xfrm>
          <a:prstGeom prst="rect">
            <a:avLst/>
          </a:prstGeom>
          <a:noFill/>
          <a:ln/>
        </p:spPr>
        <p:txBody>
          <a:bodyPr wrap="square" rtlCol="0" anchor="ctr"/>
          <a:lstStyle/>
          <a:p>
            <a:pPr algn="ctr" indent="0" marL="0">
              <a:buNone/>
            </a:pPr>
            <a:r>
              <a:rPr lang="en-US" sz="1100" b="1" dirty="0">
                <a:solidFill>
                  <a:srgbClr val="1B3A5C"/>
                </a:solidFill>
                <a:latin typeface="Calibri" pitchFamily="34" charset="0"/>
                <a:ea typeface="Calibri" pitchFamily="34" charset="-122"/>
                <a:cs typeface="Calibri" pitchFamily="34" charset="-120"/>
              </a:rPr>
              <a:t>Frontend</a:t>
            </a:r>
            <a:endParaRPr lang="en-US" sz="1100" dirty="0"/>
          </a:p>
          <a:p>
            <a:pPr algn="ctr" indent="0" marL="0">
              <a:buNone/>
            </a:pPr>
            <a:r>
              <a:rPr lang="en-US" sz="1100" b="1" dirty="0">
                <a:solidFill>
                  <a:srgbClr val="1B3A5C"/>
                </a:solidFill>
                <a:latin typeface="Calibri" pitchFamily="34" charset="0"/>
                <a:ea typeface="Calibri" pitchFamily="34" charset="-122"/>
                <a:cs typeface="Calibri" pitchFamily="34" charset="-120"/>
              </a:rPr>
              <a:t>&amp; Backend</a:t>
            </a:r>
            <a:endParaRPr lang="en-US" sz="1100" dirty="0"/>
          </a:p>
        </p:txBody>
      </p:sp>
      <p:sp>
        <p:nvSpPr>
          <p:cNvPr id="18" name="Shape 16"/>
          <p:cNvSpPr/>
          <p:nvPr/>
        </p:nvSpPr>
        <p:spPr>
          <a:xfrm>
            <a:off x="1847088" y="2761488"/>
            <a:ext cx="1133856" cy="36576"/>
          </a:xfrm>
          <a:prstGeom prst="rect">
            <a:avLst/>
          </a:prstGeom>
          <a:solidFill>
            <a:srgbClr val="E2E8F0"/>
          </a:solidFill>
          <a:ln/>
        </p:spPr>
      </p:sp>
      <p:sp>
        <p:nvSpPr>
          <p:cNvPr id="19" name="Text 17"/>
          <p:cNvSpPr/>
          <p:nvPr/>
        </p:nvSpPr>
        <p:spPr>
          <a:xfrm>
            <a:off x="1810512" y="2871216"/>
            <a:ext cx="1207008" cy="841248"/>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React.js · API REST</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PostgreSQL + MongoDB</a:t>
            </a:r>
            <a:endParaRPr lang="en-US" sz="950" dirty="0"/>
          </a:p>
        </p:txBody>
      </p:sp>
      <p:sp>
        <p:nvSpPr>
          <p:cNvPr id="20" name="Shape 18"/>
          <p:cNvSpPr/>
          <p:nvPr/>
        </p:nvSpPr>
        <p:spPr>
          <a:xfrm>
            <a:off x="3200400" y="1298448"/>
            <a:ext cx="1353312" cy="3493008"/>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1" name="Shape 19"/>
          <p:cNvSpPr/>
          <p:nvPr/>
        </p:nvSpPr>
        <p:spPr>
          <a:xfrm>
            <a:off x="3200400" y="1298448"/>
            <a:ext cx="1353312" cy="658368"/>
          </a:xfrm>
          <a:prstGeom prst="rect">
            <a:avLst/>
          </a:prstGeom>
          <a:solidFill>
            <a:srgbClr val="2E74B5"/>
          </a:solidFill>
          <a:ln/>
        </p:spPr>
      </p:sp>
      <p:sp>
        <p:nvSpPr>
          <p:cNvPr id="22" name="Text 20"/>
          <p:cNvSpPr/>
          <p:nvPr/>
        </p:nvSpPr>
        <p:spPr>
          <a:xfrm>
            <a:off x="3200400" y="1344168"/>
            <a:ext cx="1353312" cy="5943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S3</a:t>
            </a:r>
            <a:endParaRPr lang="en-US" sz="2600" dirty="0"/>
          </a:p>
        </p:txBody>
      </p:sp>
      <p:sp>
        <p:nvSpPr>
          <p:cNvPr id="23" name="Shape 21"/>
          <p:cNvSpPr/>
          <p:nvPr/>
        </p:nvSpPr>
        <p:spPr>
          <a:xfrm>
            <a:off x="3310128" y="2029968"/>
            <a:ext cx="1133856" cy="36576"/>
          </a:xfrm>
          <a:prstGeom prst="rect">
            <a:avLst/>
          </a:prstGeom>
          <a:solidFill>
            <a:srgbClr val="E2E8F0"/>
          </a:solidFill>
          <a:ln/>
        </p:spPr>
      </p:sp>
      <p:sp>
        <p:nvSpPr>
          <p:cNvPr id="24" name="Text 22"/>
          <p:cNvSpPr/>
          <p:nvPr/>
        </p:nvSpPr>
        <p:spPr>
          <a:xfrm>
            <a:off x="3273552" y="2139696"/>
            <a:ext cx="1207008" cy="566928"/>
          </a:xfrm>
          <a:prstGeom prst="rect">
            <a:avLst/>
          </a:prstGeom>
          <a:noFill/>
          <a:ln/>
        </p:spPr>
        <p:txBody>
          <a:bodyPr wrap="square" rtlCol="0" anchor="ctr"/>
          <a:lstStyle/>
          <a:p>
            <a:pPr algn="ctr" indent="0" marL="0">
              <a:buNone/>
            </a:pPr>
            <a:r>
              <a:rPr lang="en-US" sz="1100" b="1" dirty="0">
                <a:solidFill>
                  <a:srgbClr val="1B3A5C"/>
                </a:solidFill>
                <a:latin typeface="Calibri" pitchFamily="34" charset="0"/>
                <a:ea typeface="Calibri" pitchFamily="34" charset="-122"/>
                <a:cs typeface="Calibri" pitchFamily="34" charset="-120"/>
              </a:rPr>
              <a:t>Intégration IA</a:t>
            </a:r>
            <a:endParaRPr lang="en-US" sz="1100" dirty="0"/>
          </a:p>
        </p:txBody>
      </p:sp>
      <p:sp>
        <p:nvSpPr>
          <p:cNvPr id="25" name="Shape 23"/>
          <p:cNvSpPr/>
          <p:nvPr/>
        </p:nvSpPr>
        <p:spPr>
          <a:xfrm>
            <a:off x="3310128" y="2761488"/>
            <a:ext cx="1133856" cy="36576"/>
          </a:xfrm>
          <a:prstGeom prst="rect">
            <a:avLst/>
          </a:prstGeom>
          <a:solidFill>
            <a:srgbClr val="E2E8F0"/>
          </a:solidFill>
          <a:ln/>
        </p:spPr>
      </p:sp>
      <p:sp>
        <p:nvSpPr>
          <p:cNvPr id="26" name="Text 24"/>
          <p:cNvSpPr/>
          <p:nvPr/>
        </p:nvSpPr>
        <p:spPr>
          <a:xfrm>
            <a:off x="3273552" y="2871216"/>
            <a:ext cx="1207008" cy="841248"/>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Modèles de filtrage</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Algorithmes ML &amp; reco</a:t>
            </a:r>
            <a:endParaRPr lang="en-US" sz="950" dirty="0"/>
          </a:p>
        </p:txBody>
      </p:sp>
      <p:sp>
        <p:nvSpPr>
          <p:cNvPr id="27" name="Shape 25"/>
          <p:cNvSpPr/>
          <p:nvPr/>
        </p:nvSpPr>
        <p:spPr>
          <a:xfrm>
            <a:off x="4663440" y="1298448"/>
            <a:ext cx="1353312" cy="3493008"/>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8" name="Shape 26"/>
          <p:cNvSpPr/>
          <p:nvPr/>
        </p:nvSpPr>
        <p:spPr>
          <a:xfrm>
            <a:off x="4663440" y="1298448"/>
            <a:ext cx="1353312" cy="658368"/>
          </a:xfrm>
          <a:prstGeom prst="rect">
            <a:avLst/>
          </a:prstGeom>
          <a:solidFill>
            <a:srgbClr val="2B5482"/>
          </a:solidFill>
          <a:ln/>
        </p:spPr>
      </p:sp>
      <p:sp>
        <p:nvSpPr>
          <p:cNvPr id="29" name="Text 27"/>
          <p:cNvSpPr/>
          <p:nvPr/>
        </p:nvSpPr>
        <p:spPr>
          <a:xfrm>
            <a:off x="4663440" y="1344168"/>
            <a:ext cx="1353312" cy="5943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S4</a:t>
            </a:r>
            <a:endParaRPr lang="en-US" sz="2600" dirty="0"/>
          </a:p>
        </p:txBody>
      </p:sp>
      <p:sp>
        <p:nvSpPr>
          <p:cNvPr id="30" name="Shape 28"/>
          <p:cNvSpPr/>
          <p:nvPr/>
        </p:nvSpPr>
        <p:spPr>
          <a:xfrm>
            <a:off x="4773168" y="2029968"/>
            <a:ext cx="1133856" cy="36576"/>
          </a:xfrm>
          <a:prstGeom prst="rect">
            <a:avLst/>
          </a:prstGeom>
          <a:solidFill>
            <a:srgbClr val="E2E8F0"/>
          </a:solidFill>
          <a:ln/>
        </p:spPr>
      </p:sp>
      <p:sp>
        <p:nvSpPr>
          <p:cNvPr id="31" name="Text 29"/>
          <p:cNvSpPr/>
          <p:nvPr/>
        </p:nvSpPr>
        <p:spPr>
          <a:xfrm>
            <a:off x="4736592" y="2139696"/>
            <a:ext cx="1207008" cy="566928"/>
          </a:xfrm>
          <a:prstGeom prst="rect">
            <a:avLst/>
          </a:prstGeom>
          <a:noFill/>
          <a:ln/>
        </p:spPr>
        <p:txBody>
          <a:bodyPr wrap="square" rtlCol="0" anchor="ctr"/>
          <a:lstStyle/>
          <a:p>
            <a:pPr algn="ctr" indent="0" marL="0">
              <a:buNone/>
            </a:pPr>
            <a:r>
              <a:rPr lang="en-US" sz="1100" b="1" dirty="0">
                <a:solidFill>
                  <a:srgbClr val="1B3A5C"/>
                </a:solidFill>
                <a:latin typeface="Calibri" pitchFamily="34" charset="0"/>
                <a:ea typeface="Calibri" pitchFamily="34" charset="-122"/>
                <a:cs typeface="Calibri" pitchFamily="34" charset="-120"/>
              </a:rPr>
              <a:t>Conteneurisation</a:t>
            </a:r>
            <a:endParaRPr lang="en-US" sz="1100" dirty="0"/>
          </a:p>
        </p:txBody>
      </p:sp>
      <p:sp>
        <p:nvSpPr>
          <p:cNvPr id="32" name="Shape 30"/>
          <p:cNvSpPr/>
          <p:nvPr/>
        </p:nvSpPr>
        <p:spPr>
          <a:xfrm>
            <a:off x="4773168" y="2761488"/>
            <a:ext cx="1133856" cy="36576"/>
          </a:xfrm>
          <a:prstGeom prst="rect">
            <a:avLst/>
          </a:prstGeom>
          <a:solidFill>
            <a:srgbClr val="E2E8F0"/>
          </a:solidFill>
          <a:ln/>
        </p:spPr>
      </p:sp>
      <p:sp>
        <p:nvSpPr>
          <p:cNvPr id="33" name="Text 31"/>
          <p:cNvSpPr/>
          <p:nvPr/>
        </p:nvSpPr>
        <p:spPr>
          <a:xfrm>
            <a:off x="4736592" y="2871216"/>
            <a:ext cx="1207008" cy="841248"/>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Docker + Kubernetes</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Helm charts · Pods</a:t>
            </a:r>
            <a:endParaRPr lang="en-US" sz="950" dirty="0"/>
          </a:p>
        </p:txBody>
      </p:sp>
      <p:sp>
        <p:nvSpPr>
          <p:cNvPr id="34" name="Shape 32"/>
          <p:cNvSpPr/>
          <p:nvPr/>
        </p:nvSpPr>
        <p:spPr>
          <a:xfrm>
            <a:off x="6126480" y="1298448"/>
            <a:ext cx="1353312" cy="3493008"/>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5" name="Shape 33"/>
          <p:cNvSpPr/>
          <p:nvPr/>
        </p:nvSpPr>
        <p:spPr>
          <a:xfrm>
            <a:off x="6126480" y="1298448"/>
            <a:ext cx="1353312" cy="658368"/>
          </a:xfrm>
          <a:prstGeom prst="rect">
            <a:avLst/>
          </a:prstGeom>
          <a:solidFill>
            <a:srgbClr val="2E74B5"/>
          </a:solidFill>
          <a:ln/>
        </p:spPr>
      </p:sp>
      <p:sp>
        <p:nvSpPr>
          <p:cNvPr id="36" name="Text 34"/>
          <p:cNvSpPr/>
          <p:nvPr/>
        </p:nvSpPr>
        <p:spPr>
          <a:xfrm>
            <a:off x="6126480" y="1344168"/>
            <a:ext cx="1353312" cy="5943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S5</a:t>
            </a:r>
            <a:endParaRPr lang="en-US" sz="2600" dirty="0"/>
          </a:p>
        </p:txBody>
      </p:sp>
      <p:sp>
        <p:nvSpPr>
          <p:cNvPr id="37" name="Shape 35"/>
          <p:cNvSpPr/>
          <p:nvPr/>
        </p:nvSpPr>
        <p:spPr>
          <a:xfrm>
            <a:off x="6236208" y="2029968"/>
            <a:ext cx="1133856" cy="36576"/>
          </a:xfrm>
          <a:prstGeom prst="rect">
            <a:avLst/>
          </a:prstGeom>
          <a:solidFill>
            <a:srgbClr val="E2E8F0"/>
          </a:solidFill>
          <a:ln/>
        </p:spPr>
      </p:sp>
      <p:sp>
        <p:nvSpPr>
          <p:cNvPr id="38" name="Text 36"/>
          <p:cNvSpPr/>
          <p:nvPr/>
        </p:nvSpPr>
        <p:spPr>
          <a:xfrm>
            <a:off x="6199632" y="2139696"/>
            <a:ext cx="1207008" cy="566928"/>
          </a:xfrm>
          <a:prstGeom prst="rect">
            <a:avLst/>
          </a:prstGeom>
          <a:noFill/>
          <a:ln/>
        </p:spPr>
        <p:txBody>
          <a:bodyPr wrap="square" rtlCol="0" anchor="ctr"/>
          <a:lstStyle/>
          <a:p>
            <a:pPr algn="ctr" indent="0" marL="0">
              <a:buNone/>
            </a:pPr>
            <a:r>
              <a:rPr lang="en-US" sz="1100" b="1" dirty="0">
                <a:solidFill>
                  <a:srgbClr val="1B3A5C"/>
                </a:solidFill>
                <a:latin typeface="Calibri" pitchFamily="34" charset="0"/>
                <a:ea typeface="Calibri" pitchFamily="34" charset="-122"/>
                <a:cs typeface="Calibri" pitchFamily="34" charset="-120"/>
              </a:rPr>
              <a:t>CI/CD &amp; Cloud</a:t>
            </a:r>
            <a:endParaRPr lang="en-US" sz="1100" dirty="0"/>
          </a:p>
        </p:txBody>
      </p:sp>
      <p:sp>
        <p:nvSpPr>
          <p:cNvPr id="39" name="Shape 37"/>
          <p:cNvSpPr/>
          <p:nvPr/>
        </p:nvSpPr>
        <p:spPr>
          <a:xfrm>
            <a:off x="6236208" y="2761488"/>
            <a:ext cx="1133856" cy="36576"/>
          </a:xfrm>
          <a:prstGeom prst="rect">
            <a:avLst/>
          </a:prstGeom>
          <a:solidFill>
            <a:srgbClr val="E2E8F0"/>
          </a:solidFill>
          <a:ln/>
        </p:spPr>
      </p:sp>
      <p:sp>
        <p:nvSpPr>
          <p:cNvPr id="40" name="Text 38"/>
          <p:cNvSpPr/>
          <p:nvPr/>
        </p:nvSpPr>
        <p:spPr>
          <a:xfrm>
            <a:off x="6199632" y="2871216"/>
            <a:ext cx="1207008" cy="841248"/>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GitHub Actions</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Déploiement AWS/Azure</a:t>
            </a:r>
            <a:endParaRPr lang="en-US" sz="950" dirty="0"/>
          </a:p>
        </p:txBody>
      </p:sp>
      <p:sp>
        <p:nvSpPr>
          <p:cNvPr id="41" name="Shape 39"/>
          <p:cNvSpPr/>
          <p:nvPr/>
        </p:nvSpPr>
        <p:spPr>
          <a:xfrm>
            <a:off x="7589520" y="1298448"/>
            <a:ext cx="1353312" cy="3493008"/>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42" name="Shape 40"/>
          <p:cNvSpPr/>
          <p:nvPr/>
        </p:nvSpPr>
        <p:spPr>
          <a:xfrm>
            <a:off x="7589520" y="1298448"/>
            <a:ext cx="1353312" cy="658368"/>
          </a:xfrm>
          <a:prstGeom prst="rect">
            <a:avLst/>
          </a:prstGeom>
          <a:solidFill>
            <a:srgbClr val="2B5482"/>
          </a:solidFill>
          <a:ln/>
        </p:spPr>
      </p:sp>
      <p:sp>
        <p:nvSpPr>
          <p:cNvPr id="43" name="Text 41"/>
          <p:cNvSpPr/>
          <p:nvPr/>
        </p:nvSpPr>
        <p:spPr>
          <a:xfrm>
            <a:off x="7589520" y="1344168"/>
            <a:ext cx="1353312" cy="594360"/>
          </a:xfrm>
          <a:prstGeom prst="rect">
            <a:avLst/>
          </a:prstGeom>
          <a:noFill/>
          <a:ln/>
        </p:spPr>
        <p:txBody>
          <a:bodyPr wrap="square"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S6</a:t>
            </a:r>
            <a:endParaRPr lang="en-US" sz="2600" dirty="0"/>
          </a:p>
        </p:txBody>
      </p:sp>
      <p:sp>
        <p:nvSpPr>
          <p:cNvPr id="44" name="Shape 42"/>
          <p:cNvSpPr/>
          <p:nvPr/>
        </p:nvSpPr>
        <p:spPr>
          <a:xfrm>
            <a:off x="7699248" y="2029968"/>
            <a:ext cx="1133856" cy="36576"/>
          </a:xfrm>
          <a:prstGeom prst="rect">
            <a:avLst/>
          </a:prstGeom>
          <a:solidFill>
            <a:srgbClr val="E2E8F0"/>
          </a:solidFill>
          <a:ln/>
        </p:spPr>
      </p:sp>
      <p:sp>
        <p:nvSpPr>
          <p:cNvPr id="45" name="Text 43"/>
          <p:cNvSpPr/>
          <p:nvPr/>
        </p:nvSpPr>
        <p:spPr>
          <a:xfrm>
            <a:off x="7662672" y="2139696"/>
            <a:ext cx="1207008" cy="566928"/>
          </a:xfrm>
          <a:prstGeom prst="rect">
            <a:avLst/>
          </a:prstGeom>
          <a:noFill/>
          <a:ln/>
        </p:spPr>
        <p:txBody>
          <a:bodyPr wrap="square" rtlCol="0" anchor="ctr"/>
          <a:lstStyle/>
          <a:p>
            <a:pPr algn="ctr" indent="0" marL="0">
              <a:buNone/>
            </a:pPr>
            <a:r>
              <a:rPr lang="en-US" sz="1100" b="1" dirty="0">
                <a:solidFill>
                  <a:srgbClr val="1B3A5C"/>
                </a:solidFill>
                <a:latin typeface="Calibri" pitchFamily="34" charset="0"/>
                <a:ea typeface="Calibri" pitchFamily="34" charset="-122"/>
                <a:cs typeface="Calibri" pitchFamily="34" charset="-120"/>
              </a:rPr>
              <a:t>Tests &amp; Livraison</a:t>
            </a:r>
            <a:endParaRPr lang="en-US" sz="1100" dirty="0"/>
          </a:p>
        </p:txBody>
      </p:sp>
      <p:sp>
        <p:nvSpPr>
          <p:cNvPr id="46" name="Shape 44"/>
          <p:cNvSpPr/>
          <p:nvPr/>
        </p:nvSpPr>
        <p:spPr>
          <a:xfrm>
            <a:off x="7699248" y="2761488"/>
            <a:ext cx="1133856" cy="36576"/>
          </a:xfrm>
          <a:prstGeom prst="rect">
            <a:avLst/>
          </a:prstGeom>
          <a:solidFill>
            <a:srgbClr val="E2E8F0"/>
          </a:solidFill>
          <a:ln/>
        </p:spPr>
      </p:sp>
      <p:sp>
        <p:nvSpPr>
          <p:cNvPr id="47" name="Text 45"/>
          <p:cNvSpPr/>
          <p:nvPr/>
        </p:nvSpPr>
        <p:spPr>
          <a:xfrm>
            <a:off x="7662672" y="2871216"/>
            <a:ext cx="1207008" cy="841248"/>
          </a:xfrm>
          <a:prstGeom prst="rect">
            <a:avLst/>
          </a:prstGeom>
          <a:noFill/>
          <a:ln/>
        </p:spPr>
        <p:txBody>
          <a:bodyPr wrap="square" rtlCol="0" anchor="ctr"/>
          <a:lstStyle/>
          <a:p>
            <a:pPr algn="ctr" indent="0" marL="0">
              <a:buNone/>
            </a:pPr>
            <a:r>
              <a:rPr lang="en-US" sz="950" dirty="0">
                <a:solidFill>
                  <a:srgbClr val="94A3B8"/>
                </a:solidFill>
                <a:latin typeface="Calibri" pitchFamily="34" charset="0"/>
                <a:ea typeface="Calibri" pitchFamily="34" charset="-122"/>
                <a:cs typeface="Calibri" pitchFamily="34" charset="-120"/>
              </a:rPr>
              <a:t>Tests unitaires &amp; intégration</a:t>
            </a:r>
            <a:endParaRPr lang="en-US" sz="950" dirty="0"/>
          </a:p>
          <a:p>
            <a:pPr algn="ctr" indent="0" marL="0">
              <a:buNone/>
            </a:pPr>
            <a:r>
              <a:rPr lang="en-US" sz="950" dirty="0">
                <a:solidFill>
                  <a:srgbClr val="94A3B8"/>
                </a:solidFill>
                <a:latin typeface="Calibri" pitchFamily="34" charset="0"/>
                <a:ea typeface="Calibri" pitchFamily="34" charset="-122"/>
                <a:cs typeface="Calibri" pitchFamily="34" charset="-120"/>
              </a:rPr>
              <a:t>Documentation finale</a:t>
            </a:r>
            <a:endParaRPr lang="en-US" sz="950" dirty="0"/>
          </a:p>
        </p:txBody>
      </p:sp>
      <p:sp>
        <p:nvSpPr>
          <p:cNvPr id="48" name="Shape 46"/>
          <p:cNvSpPr/>
          <p:nvPr/>
        </p:nvSpPr>
        <p:spPr>
          <a:xfrm>
            <a:off x="274320" y="4828032"/>
            <a:ext cx="8595360" cy="201168"/>
          </a:xfrm>
          <a:prstGeom prst="rect">
            <a:avLst/>
          </a:prstGeom>
          <a:solidFill>
            <a:srgbClr val="E2E8F0"/>
          </a:solidFill>
          <a:ln/>
        </p:spPr>
      </p:sp>
      <p:sp>
        <p:nvSpPr>
          <p:cNvPr id="49" name="Shape 47"/>
          <p:cNvSpPr/>
          <p:nvPr/>
        </p:nvSpPr>
        <p:spPr>
          <a:xfrm>
            <a:off x="274320" y="4828032"/>
            <a:ext cx="1353312" cy="201168"/>
          </a:xfrm>
          <a:prstGeom prst="rect">
            <a:avLst/>
          </a:prstGeom>
          <a:solidFill>
            <a:srgbClr val="2E74B5">
              <a:alpha val="70000"/>
            </a:srgbClr>
          </a:solidFill>
          <a:ln/>
        </p:spPr>
      </p:sp>
      <p:sp>
        <p:nvSpPr>
          <p:cNvPr id="50" name="Shape 48"/>
          <p:cNvSpPr/>
          <p:nvPr/>
        </p:nvSpPr>
        <p:spPr>
          <a:xfrm>
            <a:off x="1737360" y="4828032"/>
            <a:ext cx="1353312" cy="201168"/>
          </a:xfrm>
          <a:prstGeom prst="rect">
            <a:avLst/>
          </a:prstGeom>
          <a:solidFill>
            <a:srgbClr val="2B5482">
              <a:alpha val="70000"/>
            </a:srgbClr>
          </a:solidFill>
          <a:ln/>
        </p:spPr>
      </p:sp>
      <p:sp>
        <p:nvSpPr>
          <p:cNvPr id="51" name="Shape 49"/>
          <p:cNvSpPr/>
          <p:nvPr/>
        </p:nvSpPr>
        <p:spPr>
          <a:xfrm>
            <a:off x="3200400" y="4828032"/>
            <a:ext cx="1353312" cy="201168"/>
          </a:xfrm>
          <a:prstGeom prst="rect">
            <a:avLst/>
          </a:prstGeom>
          <a:solidFill>
            <a:srgbClr val="2E74B5">
              <a:alpha val="70000"/>
            </a:srgbClr>
          </a:solidFill>
          <a:ln/>
        </p:spPr>
      </p:sp>
      <p:sp>
        <p:nvSpPr>
          <p:cNvPr id="52" name="Shape 50"/>
          <p:cNvSpPr/>
          <p:nvPr/>
        </p:nvSpPr>
        <p:spPr>
          <a:xfrm>
            <a:off x="4663440" y="4828032"/>
            <a:ext cx="1353312" cy="201168"/>
          </a:xfrm>
          <a:prstGeom prst="rect">
            <a:avLst/>
          </a:prstGeom>
          <a:solidFill>
            <a:srgbClr val="2B5482">
              <a:alpha val="70000"/>
            </a:srgbClr>
          </a:solidFill>
          <a:ln/>
        </p:spPr>
      </p:sp>
      <p:sp>
        <p:nvSpPr>
          <p:cNvPr id="53" name="Shape 51"/>
          <p:cNvSpPr/>
          <p:nvPr/>
        </p:nvSpPr>
        <p:spPr>
          <a:xfrm>
            <a:off x="6126480" y="4828032"/>
            <a:ext cx="1353312" cy="201168"/>
          </a:xfrm>
          <a:prstGeom prst="rect">
            <a:avLst/>
          </a:prstGeom>
          <a:solidFill>
            <a:srgbClr val="2E74B5">
              <a:alpha val="70000"/>
            </a:srgbClr>
          </a:solidFill>
          <a:ln/>
        </p:spPr>
      </p:sp>
      <p:sp>
        <p:nvSpPr>
          <p:cNvPr id="54" name="Shape 52"/>
          <p:cNvSpPr/>
          <p:nvPr/>
        </p:nvSpPr>
        <p:spPr>
          <a:xfrm>
            <a:off x="7589520" y="4828032"/>
            <a:ext cx="1353312" cy="201168"/>
          </a:xfrm>
          <a:prstGeom prst="rect">
            <a:avLst/>
          </a:prstGeom>
          <a:solidFill>
            <a:srgbClr val="2B5482">
              <a:alpha val="70000"/>
            </a:srgbClr>
          </a:solidFill>
          <a:ln/>
        </p:spPr>
      </p:sp>
      <p:sp>
        <p:nvSpPr>
          <p:cNvPr id="55" name="Text 53"/>
          <p:cNvSpPr/>
          <p:nvPr/>
        </p:nvSpPr>
        <p:spPr>
          <a:xfrm>
            <a:off x="320040" y="4832604"/>
            <a:ext cx="8503920" cy="182880"/>
          </a:xfrm>
          <a:prstGeom prst="rect">
            <a:avLst/>
          </a:prstGeom>
          <a:noFill/>
          <a:ln/>
        </p:spPr>
        <p:txBody>
          <a:bodyPr wrap="square" rtlCol="0" anchor="ctr"/>
          <a:lstStyle/>
          <a:p>
            <a:pPr algn="ctr" indent="0" marL="0">
              <a:buNone/>
            </a:pPr>
            <a:r>
              <a:rPr lang="en-US" sz="850" dirty="0">
                <a:solidFill>
                  <a:srgbClr val="FFFFFF"/>
                </a:solidFill>
                <a:latin typeface="Calibri" pitchFamily="34" charset="0"/>
                <a:ea typeface="Calibri" pitchFamily="34" charset="-122"/>
                <a:cs typeface="Calibri" pitchFamily="34" charset="-120"/>
              </a:rPr>
              <a:t>Durée totale : 6 semaines  ·  Livraison : Application déployée + Documentation + CI/CD fonctionnel</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9"/>
        </a:solidFill>
      </p:bgPr>
    </p:bg>
    <p:spTree>
      <p:nvGrpSpPr>
        <p:cNvPr id="1" name=""/>
        <p:cNvGrpSpPr/>
        <p:nvPr/>
      </p:nvGrpSpPr>
      <p:grpSpPr>
        <a:xfrm>
          <a:off x="0" y="0"/>
          <a:ext cx="0" cy="0"/>
          <a:chOff x="0" y="0"/>
          <a:chExt cx="0" cy="0"/>
        </a:xfrm>
      </p:grpSpPr>
      <p:sp>
        <p:nvSpPr>
          <p:cNvPr id="2" name="Shape 0"/>
          <p:cNvSpPr/>
          <p:nvPr/>
        </p:nvSpPr>
        <p:spPr>
          <a:xfrm>
            <a:off x="0" y="0"/>
            <a:ext cx="9144000" cy="1188720"/>
          </a:xfrm>
          <a:prstGeom prst="rect">
            <a:avLst/>
          </a:prstGeom>
          <a:solidFill>
            <a:srgbClr val="1B3A5C"/>
          </a:solidFill>
          <a:ln/>
        </p:spPr>
      </p:sp>
      <p:sp>
        <p:nvSpPr>
          <p:cNvPr id="3" name="Shape 1"/>
          <p:cNvSpPr/>
          <p:nvPr/>
        </p:nvSpPr>
        <p:spPr>
          <a:xfrm>
            <a:off x="0" y="1161288"/>
            <a:ext cx="9144000" cy="54864"/>
          </a:xfrm>
          <a:prstGeom prst="rect">
            <a:avLst/>
          </a:prstGeom>
          <a:solidFill>
            <a:srgbClr val="2E74B5"/>
          </a:solidFill>
          <a:ln/>
        </p:spPr>
      </p:sp>
      <p:sp>
        <p:nvSpPr>
          <p:cNvPr id="4" name="Text 2"/>
          <p:cNvSpPr/>
          <p:nvPr/>
        </p:nvSpPr>
        <p:spPr>
          <a:xfrm>
            <a:off x="365760" y="137160"/>
            <a:ext cx="8412480" cy="566928"/>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LIVRABLES DU PROJET</a:t>
            </a:r>
            <a:endParaRPr lang="en-US" sz="2400" dirty="0"/>
          </a:p>
        </p:txBody>
      </p:sp>
      <p:sp>
        <p:nvSpPr>
          <p:cNvPr id="5" name="Text 3"/>
          <p:cNvSpPr/>
          <p:nvPr/>
        </p:nvSpPr>
        <p:spPr>
          <a:xfrm>
            <a:off x="365760" y="713232"/>
            <a:ext cx="8412480" cy="365760"/>
          </a:xfrm>
          <a:prstGeom prst="rect">
            <a:avLst/>
          </a:prstGeom>
          <a:noFill/>
          <a:ln/>
        </p:spPr>
        <p:txBody>
          <a:bodyPr wrap="square" rtlCol="0" anchor="ctr"/>
          <a:lstStyle/>
          <a:p>
            <a:pPr indent="0" marL="0">
              <a:buNone/>
            </a:pPr>
            <a:r>
              <a:rPr lang="en-US" sz="1200" dirty="0">
                <a:solidFill>
                  <a:srgbClr val="B0C4D8"/>
                </a:solidFill>
                <a:latin typeface="Calibri" pitchFamily="34" charset="0"/>
                <a:ea typeface="Calibri" pitchFamily="34" charset="-122"/>
                <a:cs typeface="Calibri" pitchFamily="34" charset="-120"/>
              </a:rPr>
              <a:t>Tous les artefacts attendus à la date de livraison finale</a:t>
            </a:r>
            <a:endParaRPr lang="en-US" sz="1200" dirty="0"/>
          </a:p>
        </p:txBody>
      </p:sp>
      <p:sp>
        <p:nvSpPr>
          <p:cNvPr id="6" name="Shape 4"/>
          <p:cNvSpPr/>
          <p:nvPr/>
        </p:nvSpPr>
        <p:spPr>
          <a:xfrm>
            <a:off x="274320" y="1298448"/>
            <a:ext cx="2743200" cy="36576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7" name="Shape 5"/>
          <p:cNvSpPr/>
          <p:nvPr/>
        </p:nvSpPr>
        <p:spPr>
          <a:xfrm>
            <a:off x="274320" y="1298448"/>
            <a:ext cx="2743200" cy="731520"/>
          </a:xfrm>
          <a:prstGeom prst="rect">
            <a:avLst/>
          </a:prstGeom>
          <a:solidFill>
            <a:srgbClr val="2E74B5"/>
          </a:solidFill>
          <a:ln/>
        </p:spPr>
      </p:sp>
      <p:pic>
        <p:nvPicPr>
          <p:cNvPr id="8" name="Image 0" descr="preencoded.png">    </p:cNvPr>
          <p:cNvPicPr>
            <a:picLocks noChangeAspect="1"/>
          </p:cNvPicPr>
          <p:nvPr/>
        </p:nvPicPr>
        <p:blipFill>
          <a:blip r:embed="rId1"/>
          <a:stretch>
            <a:fillRect/>
          </a:stretch>
        </p:blipFill>
        <p:spPr>
          <a:xfrm>
            <a:off x="420624" y="1417320"/>
            <a:ext cx="438912" cy="438912"/>
          </a:xfrm>
          <a:prstGeom prst="rect">
            <a:avLst/>
          </a:prstGeom>
        </p:spPr>
      </p:pic>
      <p:sp>
        <p:nvSpPr>
          <p:cNvPr id="9" name="Text 6"/>
          <p:cNvSpPr/>
          <p:nvPr/>
        </p:nvSpPr>
        <p:spPr>
          <a:xfrm>
            <a:off x="969264" y="1408176"/>
            <a:ext cx="1920240" cy="530352"/>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Documentation</a:t>
            </a:r>
            <a:endParaRPr lang="en-US" sz="1600" dirty="0"/>
          </a:p>
        </p:txBody>
      </p:sp>
      <p:sp>
        <p:nvSpPr>
          <p:cNvPr id="10" name="Shape 7"/>
          <p:cNvSpPr/>
          <p:nvPr/>
        </p:nvSpPr>
        <p:spPr>
          <a:xfrm>
            <a:off x="438912" y="2103120"/>
            <a:ext cx="2414016" cy="36576"/>
          </a:xfrm>
          <a:prstGeom prst="rect">
            <a:avLst/>
          </a:prstGeom>
          <a:solidFill>
            <a:srgbClr val="E2E8F0"/>
          </a:solidFill>
          <a:ln/>
        </p:spPr>
      </p:sp>
      <p:pic>
        <p:nvPicPr>
          <p:cNvPr id="11" name="Image 1" descr="preencoded.png">    </p:cNvPr>
          <p:cNvPicPr>
            <a:picLocks noChangeAspect="1"/>
          </p:cNvPicPr>
          <p:nvPr/>
        </p:nvPicPr>
        <p:blipFill>
          <a:blip r:embed="rId2"/>
          <a:stretch>
            <a:fillRect/>
          </a:stretch>
        </p:blipFill>
        <p:spPr>
          <a:xfrm>
            <a:off x="457200" y="2276856"/>
            <a:ext cx="219456" cy="219456"/>
          </a:xfrm>
          <a:prstGeom prst="rect">
            <a:avLst/>
          </a:prstGeom>
        </p:spPr>
      </p:pic>
      <p:sp>
        <p:nvSpPr>
          <p:cNvPr id="12" name="Text 8"/>
          <p:cNvSpPr/>
          <p:nvPr/>
        </p:nvSpPr>
        <p:spPr>
          <a:xfrm>
            <a:off x="749808" y="2267712"/>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Description complète du projet</a:t>
            </a:r>
            <a:endParaRPr lang="en-US" sz="1000" dirty="0"/>
          </a:p>
        </p:txBody>
      </p:sp>
      <p:pic>
        <p:nvPicPr>
          <p:cNvPr id="13" name="Image 2" descr="preencoded.png">    </p:cNvPr>
          <p:cNvPicPr>
            <a:picLocks noChangeAspect="1"/>
          </p:cNvPicPr>
          <p:nvPr/>
        </p:nvPicPr>
        <p:blipFill>
          <a:blip r:embed="rId3"/>
          <a:stretch>
            <a:fillRect/>
          </a:stretch>
        </p:blipFill>
        <p:spPr>
          <a:xfrm>
            <a:off x="457200" y="2743200"/>
            <a:ext cx="219456" cy="219456"/>
          </a:xfrm>
          <a:prstGeom prst="rect">
            <a:avLst/>
          </a:prstGeom>
        </p:spPr>
      </p:pic>
      <p:sp>
        <p:nvSpPr>
          <p:cNvPr id="14" name="Text 9"/>
          <p:cNvSpPr/>
          <p:nvPr/>
        </p:nvSpPr>
        <p:spPr>
          <a:xfrm>
            <a:off x="749808" y="2734056"/>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Diagramme de cas d'utilisation</a:t>
            </a:r>
            <a:endParaRPr lang="en-US" sz="1000" dirty="0"/>
          </a:p>
        </p:txBody>
      </p:sp>
      <p:pic>
        <p:nvPicPr>
          <p:cNvPr id="15" name="Image 3" descr="preencoded.png">    </p:cNvPr>
          <p:cNvPicPr>
            <a:picLocks noChangeAspect="1"/>
          </p:cNvPicPr>
          <p:nvPr/>
        </p:nvPicPr>
        <p:blipFill>
          <a:blip r:embed="rId4"/>
          <a:stretch>
            <a:fillRect/>
          </a:stretch>
        </p:blipFill>
        <p:spPr>
          <a:xfrm>
            <a:off x="457200" y="3209544"/>
            <a:ext cx="219456" cy="219456"/>
          </a:xfrm>
          <a:prstGeom prst="rect">
            <a:avLst/>
          </a:prstGeom>
        </p:spPr>
      </p:pic>
      <p:sp>
        <p:nvSpPr>
          <p:cNvPr id="16" name="Text 10"/>
          <p:cNvSpPr/>
          <p:nvPr/>
        </p:nvSpPr>
        <p:spPr>
          <a:xfrm>
            <a:off x="749808" y="3200400"/>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Diagramme de classes UML</a:t>
            </a:r>
            <a:endParaRPr lang="en-US" sz="1000" dirty="0"/>
          </a:p>
        </p:txBody>
      </p:sp>
      <p:pic>
        <p:nvPicPr>
          <p:cNvPr id="17" name="Image 4" descr="preencoded.png">    </p:cNvPr>
          <p:cNvPicPr>
            <a:picLocks noChangeAspect="1"/>
          </p:cNvPicPr>
          <p:nvPr/>
        </p:nvPicPr>
        <p:blipFill>
          <a:blip r:embed="rId5"/>
          <a:stretch>
            <a:fillRect/>
          </a:stretch>
        </p:blipFill>
        <p:spPr>
          <a:xfrm>
            <a:off x="457200" y="3675888"/>
            <a:ext cx="219456" cy="219456"/>
          </a:xfrm>
          <a:prstGeom prst="rect">
            <a:avLst/>
          </a:prstGeom>
        </p:spPr>
      </p:pic>
      <p:sp>
        <p:nvSpPr>
          <p:cNvPr id="18" name="Text 11"/>
          <p:cNvSpPr/>
          <p:nvPr/>
        </p:nvSpPr>
        <p:spPr>
          <a:xfrm>
            <a:off x="749808" y="3666744"/>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Diagramme d'activités</a:t>
            </a:r>
            <a:endParaRPr lang="en-US" sz="1000" dirty="0"/>
          </a:p>
        </p:txBody>
      </p:sp>
      <p:pic>
        <p:nvPicPr>
          <p:cNvPr id="19" name="Image 5" descr="preencoded.png">    </p:cNvPr>
          <p:cNvPicPr>
            <a:picLocks noChangeAspect="1"/>
          </p:cNvPicPr>
          <p:nvPr/>
        </p:nvPicPr>
        <p:blipFill>
          <a:blip r:embed="rId6"/>
          <a:stretch>
            <a:fillRect/>
          </a:stretch>
        </p:blipFill>
        <p:spPr>
          <a:xfrm>
            <a:off x="457200" y="4142232"/>
            <a:ext cx="219456" cy="219456"/>
          </a:xfrm>
          <a:prstGeom prst="rect">
            <a:avLst/>
          </a:prstGeom>
        </p:spPr>
      </p:pic>
      <p:sp>
        <p:nvSpPr>
          <p:cNvPr id="20" name="Text 12"/>
          <p:cNvSpPr/>
          <p:nvPr/>
        </p:nvSpPr>
        <p:spPr>
          <a:xfrm>
            <a:off x="749808" y="4133088"/>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Diagramme de séquence</a:t>
            </a:r>
            <a:endParaRPr lang="en-US" sz="1000" dirty="0"/>
          </a:p>
        </p:txBody>
      </p:sp>
      <p:pic>
        <p:nvPicPr>
          <p:cNvPr id="21" name="Image 6" descr="preencoded.png">    </p:cNvPr>
          <p:cNvPicPr>
            <a:picLocks noChangeAspect="1"/>
          </p:cNvPicPr>
          <p:nvPr/>
        </p:nvPicPr>
        <p:blipFill>
          <a:blip r:embed="rId7"/>
          <a:stretch>
            <a:fillRect/>
          </a:stretch>
        </p:blipFill>
        <p:spPr>
          <a:xfrm>
            <a:off x="457200" y="4608576"/>
            <a:ext cx="219456" cy="219456"/>
          </a:xfrm>
          <a:prstGeom prst="rect">
            <a:avLst/>
          </a:prstGeom>
        </p:spPr>
      </p:pic>
      <p:sp>
        <p:nvSpPr>
          <p:cNvPr id="22" name="Text 13"/>
          <p:cNvSpPr/>
          <p:nvPr/>
        </p:nvSpPr>
        <p:spPr>
          <a:xfrm>
            <a:off x="749808" y="4599432"/>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Modèle ER de la base de données</a:t>
            </a:r>
            <a:endParaRPr lang="en-US" sz="1000" dirty="0"/>
          </a:p>
        </p:txBody>
      </p:sp>
      <p:sp>
        <p:nvSpPr>
          <p:cNvPr id="23" name="Shape 14"/>
          <p:cNvSpPr/>
          <p:nvPr/>
        </p:nvSpPr>
        <p:spPr>
          <a:xfrm>
            <a:off x="3172968" y="1298448"/>
            <a:ext cx="2743200" cy="36576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24" name="Shape 15"/>
          <p:cNvSpPr/>
          <p:nvPr/>
        </p:nvSpPr>
        <p:spPr>
          <a:xfrm>
            <a:off x="3172968" y="1298448"/>
            <a:ext cx="2743200" cy="731520"/>
          </a:xfrm>
          <a:prstGeom prst="rect">
            <a:avLst/>
          </a:prstGeom>
          <a:solidFill>
            <a:srgbClr val="2B5482"/>
          </a:solidFill>
          <a:ln/>
        </p:spPr>
      </p:sp>
      <p:pic>
        <p:nvPicPr>
          <p:cNvPr id="25" name="Image 7" descr="preencoded.png">    </p:cNvPr>
          <p:cNvPicPr>
            <a:picLocks noChangeAspect="1"/>
          </p:cNvPicPr>
          <p:nvPr/>
        </p:nvPicPr>
        <p:blipFill>
          <a:blip r:embed="rId8"/>
          <a:stretch>
            <a:fillRect/>
          </a:stretch>
        </p:blipFill>
        <p:spPr>
          <a:xfrm>
            <a:off x="3319272" y="1417320"/>
            <a:ext cx="438912" cy="438912"/>
          </a:xfrm>
          <a:prstGeom prst="rect">
            <a:avLst/>
          </a:prstGeom>
        </p:spPr>
      </p:pic>
      <p:sp>
        <p:nvSpPr>
          <p:cNvPr id="26" name="Text 16"/>
          <p:cNvSpPr/>
          <p:nvPr/>
        </p:nvSpPr>
        <p:spPr>
          <a:xfrm>
            <a:off x="3867912" y="1408176"/>
            <a:ext cx="1920240" cy="530352"/>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Application</a:t>
            </a:r>
            <a:endParaRPr lang="en-US" sz="1600" dirty="0"/>
          </a:p>
        </p:txBody>
      </p:sp>
      <p:sp>
        <p:nvSpPr>
          <p:cNvPr id="27" name="Shape 17"/>
          <p:cNvSpPr/>
          <p:nvPr/>
        </p:nvSpPr>
        <p:spPr>
          <a:xfrm>
            <a:off x="3337560" y="2103120"/>
            <a:ext cx="2414016" cy="36576"/>
          </a:xfrm>
          <a:prstGeom prst="rect">
            <a:avLst/>
          </a:prstGeom>
          <a:solidFill>
            <a:srgbClr val="E2E8F0"/>
          </a:solidFill>
          <a:ln/>
        </p:spPr>
      </p:sp>
      <p:pic>
        <p:nvPicPr>
          <p:cNvPr id="28" name="Image 8" descr="preencoded.png">    </p:cNvPr>
          <p:cNvPicPr>
            <a:picLocks noChangeAspect="1"/>
          </p:cNvPicPr>
          <p:nvPr/>
        </p:nvPicPr>
        <p:blipFill>
          <a:blip r:embed="rId9"/>
          <a:stretch>
            <a:fillRect/>
          </a:stretch>
        </p:blipFill>
        <p:spPr>
          <a:xfrm>
            <a:off x="3355848" y="2276856"/>
            <a:ext cx="219456" cy="219456"/>
          </a:xfrm>
          <a:prstGeom prst="rect">
            <a:avLst/>
          </a:prstGeom>
        </p:spPr>
      </p:pic>
      <p:sp>
        <p:nvSpPr>
          <p:cNvPr id="29" name="Text 18"/>
          <p:cNvSpPr/>
          <p:nvPr/>
        </p:nvSpPr>
        <p:spPr>
          <a:xfrm>
            <a:off x="3648456" y="2267712"/>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Frontend React.js (web responsive)</a:t>
            </a:r>
            <a:endParaRPr lang="en-US" sz="1000" dirty="0"/>
          </a:p>
        </p:txBody>
      </p:sp>
      <p:pic>
        <p:nvPicPr>
          <p:cNvPr id="30" name="Image 9" descr="preencoded.png">    </p:cNvPr>
          <p:cNvPicPr>
            <a:picLocks noChangeAspect="1"/>
          </p:cNvPicPr>
          <p:nvPr/>
        </p:nvPicPr>
        <p:blipFill>
          <a:blip r:embed="rId10"/>
          <a:stretch>
            <a:fillRect/>
          </a:stretch>
        </p:blipFill>
        <p:spPr>
          <a:xfrm>
            <a:off x="3355848" y="2743200"/>
            <a:ext cx="219456" cy="219456"/>
          </a:xfrm>
          <a:prstGeom prst="rect">
            <a:avLst/>
          </a:prstGeom>
        </p:spPr>
      </p:pic>
      <p:sp>
        <p:nvSpPr>
          <p:cNvPr id="31" name="Text 19"/>
          <p:cNvSpPr/>
          <p:nvPr/>
        </p:nvSpPr>
        <p:spPr>
          <a:xfrm>
            <a:off x="3648456" y="2734056"/>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App mobile React Native / Flet</a:t>
            </a:r>
            <a:endParaRPr lang="en-US" sz="1000" dirty="0"/>
          </a:p>
        </p:txBody>
      </p:sp>
      <p:pic>
        <p:nvPicPr>
          <p:cNvPr id="32" name="Image 10" descr="preencoded.png">    </p:cNvPr>
          <p:cNvPicPr>
            <a:picLocks noChangeAspect="1"/>
          </p:cNvPicPr>
          <p:nvPr/>
        </p:nvPicPr>
        <p:blipFill>
          <a:blip r:embed="rId11"/>
          <a:stretch>
            <a:fillRect/>
          </a:stretch>
        </p:blipFill>
        <p:spPr>
          <a:xfrm>
            <a:off x="3355848" y="3209544"/>
            <a:ext cx="219456" cy="219456"/>
          </a:xfrm>
          <a:prstGeom prst="rect">
            <a:avLst/>
          </a:prstGeom>
        </p:spPr>
      </p:pic>
      <p:sp>
        <p:nvSpPr>
          <p:cNvPr id="33" name="Text 20"/>
          <p:cNvSpPr/>
          <p:nvPr/>
        </p:nvSpPr>
        <p:spPr>
          <a:xfrm>
            <a:off x="3648456" y="3200400"/>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API Backend Python / Node.js</a:t>
            </a:r>
            <a:endParaRPr lang="en-US" sz="1000" dirty="0"/>
          </a:p>
        </p:txBody>
      </p:sp>
      <p:pic>
        <p:nvPicPr>
          <p:cNvPr id="34" name="Image 11" descr="preencoded.png">    </p:cNvPr>
          <p:cNvPicPr>
            <a:picLocks noChangeAspect="1"/>
          </p:cNvPicPr>
          <p:nvPr/>
        </p:nvPicPr>
        <p:blipFill>
          <a:blip r:embed="rId12"/>
          <a:stretch>
            <a:fillRect/>
          </a:stretch>
        </p:blipFill>
        <p:spPr>
          <a:xfrm>
            <a:off x="3355848" y="3675888"/>
            <a:ext cx="219456" cy="219456"/>
          </a:xfrm>
          <a:prstGeom prst="rect">
            <a:avLst/>
          </a:prstGeom>
        </p:spPr>
      </p:pic>
      <p:sp>
        <p:nvSpPr>
          <p:cNvPr id="35" name="Text 21"/>
          <p:cNvSpPr/>
          <p:nvPr/>
        </p:nvSpPr>
        <p:spPr>
          <a:xfrm>
            <a:off x="3648456" y="3666744"/>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Moteur de recommandations IA</a:t>
            </a:r>
            <a:endParaRPr lang="en-US" sz="1000" dirty="0"/>
          </a:p>
        </p:txBody>
      </p:sp>
      <p:pic>
        <p:nvPicPr>
          <p:cNvPr id="36" name="Image 12" descr="preencoded.png">    </p:cNvPr>
          <p:cNvPicPr>
            <a:picLocks noChangeAspect="1"/>
          </p:cNvPicPr>
          <p:nvPr/>
        </p:nvPicPr>
        <p:blipFill>
          <a:blip r:embed="rId13"/>
          <a:stretch>
            <a:fillRect/>
          </a:stretch>
        </p:blipFill>
        <p:spPr>
          <a:xfrm>
            <a:off x="3355848" y="4142232"/>
            <a:ext cx="219456" cy="219456"/>
          </a:xfrm>
          <a:prstGeom prst="rect">
            <a:avLst/>
          </a:prstGeom>
        </p:spPr>
      </p:pic>
      <p:sp>
        <p:nvSpPr>
          <p:cNvPr id="37" name="Text 22"/>
          <p:cNvSpPr/>
          <p:nvPr/>
        </p:nvSpPr>
        <p:spPr>
          <a:xfrm>
            <a:off x="3648456" y="4133088"/>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PostgreSQL + MongoDB configurés</a:t>
            </a:r>
            <a:endParaRPr lang="en-US" sz="1000" dirty="0"/>
          </a:p>
        </p:txBody>
      </p:sp>
      <p:sp>
        <p:nvSpPr>
          <p:cNvPr id="38" name="Shape 23"/>
          <p:cNvSpPr/>
          <p:nvPr/>
        </p:nvSpPr>
        <p:spPr>
          <a:xfrm>
            <a:off x="6071616" y="1298448"/>
            <a:ext cx="2743200" cy="3657600"/>
          </a:xfrm>
          <a:prstGeom prst="rect">
            <a:avLst/>
          </a:prstGeom>
          <a:solidFill>
            <a:srgbClr val="FFFFFF"/>
          </a:solidFill>
          <a:ln/>
          <a:effectLst>
            <a:outerShdw sx="100000" sy="100000" kx="0" ky="0" algn="bl" rotWithShape="0" blurRad="76200" dist="25400" dir="8100000">
              <a:srgbClr val="000000">
                <a:alpha val="8000"/>
              </a:srgbClr>
            </a:outerShdw>
          </a:effectLst>
        </p:spPr>
      </p:sp>
      <p:sp>
        <p:nvSpPr>
          <p:cNvPr id="39" name="Shape 24"/>
          <p:cNvSpPr/>
          <p:nvPr/>
        </p:nvSpPr>
        <p:spPr>
          <a:xfrm>
            <a:off x="6071616" y="1298448"/>
            <a:ext cx="2743200" cy="731520"/>
          </a:xfrm>
          <a:prstGeom prst="rect">
            <a:avLst/>
          </a:prstGeom>
          <a:solidFill>
            <a:srgbClr val="EA580C"/>
          </a:solidFill>
          <a:ln/>
        </p:spPr>
      </p:sp>
      <p:pic>
        <p:nvPicPr>
          <p:cNvPr id="40" name="Image 13" descr="preencoded.png">    </p:cNvPr>
          <p:cNvPicPr>
            <a:picLocks noChangeAspect="1"/>
          </p:cNvPicPr>
          <p:nvPr/>
        </p:nvPicPr>
        <p:blipFill>
          <a:blip r:embed="rId14"/>
          <a:stretch>
            <a:fillRect/>
          </a:stretch>
        </p:blipFill>
        <p:spPr>
          <a:xfrm>
            <a:off x="6217920" y="1417320"/>
            <a:ext cx="438912" cy="438912"/>
          </a:xfrm>
          <a:prstGeom prst="rect">
            <a:avLst/>
          </a:prstGeom>
        </p:spPr>
      </p:pic>
      <p:sp>
        <p:nvSpPr>
          <p:cNvPr id="41" name="Text 25"/>
          <p:cNvSpPr/>
          <p:nvPr/>
        </p:nvSpPr>
        <p:spPr>
          <a:xfrm>
            <a:off x="6766560" y="1408176"/>
            <a:ext cx="1920240" cy="530352"/>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Infrastructure</a:t>
            </a:r>
            <a:endParaRPr lang="en-US" sz="1600" dirty="0"/>
          </a:p>
        </p:txBody>
      </p:sp>
      <p:sp>
        <p:nvSpPr>
          <p:cNvPr id="42" name="Shape 26"/>
          <p:cNvSpPr/>
          <p:nvPr/>
        </p:nvSpPr>
        <p:spPr>
          <a:xfrm>
            <a:off x="6236208" y="2103120"/>
            <a:ext cx="2414016" cy="36576"/>
          </a:xfrm>
          <a:prstGeom prst="rect">
            <a:avLst/>
          </a:prstGeom>
          <a:solidFill>
            <a:srgbClr val="E2E8F0"/>
          </a:solidFill>
          <a:ln/>
        </p:spPr>
      </p:sp>
      <p:pic>
        <p:nvPicPr>
          <p:cNvPr id="43" name="Image 14" descr="preencoded.png">    </p:cNvPr>
          <p:cNvPicPr>
            <a:picLocks noChangeAspect="1"/>
          </p:cNvPicPr>
          <p:nvPr/>
        </p:nvPicPr>
        <p:blipFill>
          <a:blip r:embed="rId15"/>
          <a:stretch>
            <a:fillRect/>
          </a:stretch>
        </p:blipFill>
        <p:spPr>
          <a:xfrm>
            <a:off x="6254496" y="2276856"/>
            <a:ext cx="219456" cy="219456"/>
          </a:xfrm>
          <a:prstGeom prst="rect">
            <a:avLst/>
          </a:prstGeom>
        </p:spPr>
      </p:pic>
      <p:sp>
        <p:nvSpPr>
          <p:cNvPr id="44" name="Text 27"/>
          <p:cNvSpPr/>
          <p:nvPr/>
        </p:nvSpPr>
        <p:spPr>
          <a:xfrm>
            <a:off x="6547104" y="2267712"/>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Solution déployée sur AWS / Azure</a:t>
            </a:r>
            <a:endParaRPr lang="en-US" sz="1000" dirty="0"/>
          </a:p>
        </p:txBody>
      </p:sp>
      <p:pic>
        <p:nvPicPr>
          <p:cNvPr id="45" name="Image 15" descr="preencoded.png">    </p:cNvPr>
          <p:cNvPicPr>
            <a:picLocks noChangeAspect="1"/>
          </p:cNvPicPr>
          <p:nvPr/>
        </p:nvPicPr>
        <p:blipFill>
          <a:blip r:embed="rId16"/>
          <a:stretch>
            <a:fillRect/>
          </a:stretch>
        </p:blipFill>
        <p:spPr>
          <a:xfrm>
            <a:off x="6254496" y="2743200"/>
            <a:ext cx="219456" cy="219456"/>
          </a:xfrm>
          <a:prstGeom prst="rect">
            <a:avLst/>
          </a:prstGeom>
        </p:spPr>
      </p:pic>
      <p:sp>
        <p:nvSpPr>
          <p:cNvPr id="46" name="Text 28"/>
          <p:cNvSpPr/>
          <p:nvPr/>
        </p:nvSpPr>
        <p:spPr>
          <a:xfrm>
            <a:off x="6547104" y="2734056"/>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Repo GitHub/GitLab complet</a:t>
            </a:r>
            <a:endParaRPr lang="en-US" sz="1000" dirty="0"/>
          </a:p>
        </p:txBody>
      </p:sp>
      <p:pic>
        <p:nvPicPr>
          <p:cNvPr id="47" name="Image 16" descr="preencoded.png">    </p:cNvPr>
          <p:cNvPicPr>
            <a:picLocks noChangeAspect="1"/>
          </p:cNvPicPr>
          <p:nvPr/>
        </p:nvPicPr>
        <p:blipFill>
          <a:blip r:embed="rId17"/>
          <a:stretch>
            <a:fillRect/>
          </a:stretch>
        </p:blipFill>
        <p:spPr>
          <a:xfrm>
            <a:off x="6254496" y="3209544"/>
            <a:ext cx="219456" cy="219456"/>
          </a:xfrm>
          <a:prstGeom prst="rect">
            <a:avLst/>
          </a:prstGeom>
        </p:spPr>
      </p:pic>
      <p:sp>
        <p:nvSpPr>
          <p:cNvPr id="48" name="Text 29"/>
          <p:cNvSpPr/>
          <p:nvPr/>
        </p:nvSpPr>
        <p:spPr>
          <a:xfrm>
            <a:off x="6547104" y="3200400"/>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Pipelines CI/CD configurés</a:t>
            </a:r>
            <a:endParaRPr lang="en-US" sz="1000" dirty="0"/>
          </a:p>
        </p:txBody>
      </p:sp>
      <p:pic>
        <p:nvPicPr>
          <p:cNvPr id="49" name="Image 17" descr="preencoded.png">    </p:cNvPr>
          <p:cNvPicPr>
            <a:picLocks noChangeAspect="1"/>
          </p:cNvPicPr>
          <p:nvPr/>
        </p:nvPicPr>
        <p:blipFill>
          <a:blip r:embed="rId18"/>
          <a:stretch>
            <a:fillRect/>
          </a:stretch>
        </p:blipFill>
        <p:spPr>
          <a:xfrm>
            <a:off x="6254496" y="3675888"/>
            <a:ext cx="219456" cy="219456"/>
          </a:xfrm>
          <a:prstGeom prst="rect">
            <a:avLst/>
          </a:prstGeom>
        </p:spPr>
      </p:pic>
      <p:sp>
        <p:nvSpPr>
          <p:cNvPr id="50" name="Text 30"/>
          <p:cNvSpPr/>
          <p:nvPr/>
        </p:nvSpPr>
        <p:spPr>
          <a:xfrm>
            <a:off x="6547104" y="3666744"/>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Conteneurs Docker + Kubernetes</a:t>
            </a:r>
            <a:endParaRPr lang="en-US" sz="1000" dirty="0"/>
          </a:p>
        </p:txBody>
      </p:sp>
      <p:pic>
        <p:nvPicPr>
          <p:cNvPr id="51" name="Image 18" descr="preencoded.png">    </p:cNvPr>
          <p:cNvPicPr>
            <a:picLocks noChangeAspect="1"/>
          </p:cNvPicPr>
          <p:nvPr/>
        </p:nvPicPr>
        <p:blipFill>
          <a:blip r:embed="rId19"/>
          <a:stretch>
            <a:fillRect/>
          </a:stretch>
        </p:blipFill>
        <p:spPr>
          <a:xfrm>
            <a:off x="6254496" y="4142232"/>
            <a:ext cx="219456" cy="219456"/>
          </a:xfrm>
          <a:prstGeom prst="rect">
            <a:avLst/>
          </a:prstGeom>
        </p:spPr>
      </p:pic>
      <p:sp>
        <p:nvSpPr>
          <p:cNvPr id="52" name="Text 31"/>
          <p:cNvSpPr/>
          <p:nvPr/>
        </p:nvSpPr>
        <p:spPr>
          <a:xfrm>
            <a:off x="6547104" y="4133088"/>
            <a:ext cx="2157984" cy="292608"/>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Monitoring &amp; rapports de tests</a:t>
            </a:r>
            <a:endParaRPr lang="en-US" sz="1000" dirty="0"/>
          </a:p>
        </p:txBody>
      </p:sp>
      <p:sp>
        <p:nvSpPr>
          <p:cNvPr id="53" name="Shape 32"/>
          <p:cNvSpPr/>
          <p:nvPr/>
        </p:nvSpPr>
        <p:spPr>
          <a:xfrm>
            <a:off x="0" y="4956048"/>
            <a:ext cx="9144000" cy="187452"/>
          </a:xfrm>
          <a:prstGeom prst="rect">
            <a:avLst/>
          </a:prstGeom>
          <a:solidFill>
            <a:srgbClr val="E2E8F0"/>
          </a:solidFill>
          <a:ln/>
        </p:spPr>
      </p:sp>
      <p:sp>
        <p:nvSpPr>
          <p:cNvPr id="54" name="Text 33"/>
          <p:cNvSpPr/>
          <p:nvPr/>
        </p:nvSpPr>
        <p:spPr>
          <a:xfrm>
            <a:off x="365760" y="4969764"/>
            <a:ext cx="6400800" cy="164592"/>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Plateforme Éducative Intelligente — IA &amp; Microservices</a:t>
            </a:r>
            <a:endParaRPr lang="en-US" sz="850" dirty="0"/>
          </a:p>
        </p:txBody>
      </p:sp>
      <p:sp>
        <p:nvSpPr>
          <p:cNvPr id="55" name="Text 34"/>
          <p:cNvSpPr/>
          <p:nvPr/>
        </p:nvSpPr>
        <p:spPr>
          <a:xfrm>
            <a:off x="0" y="4969764"/>
            <a:ext cx="8778240" cy="164592"/>
          </a:xfrm>
          <a:prstGeom prst="rect">
            <a:avLst/>
          </a:prstGeom>
          <a:noFill/>
          <a:ln/>
        </p:spPr>
        <p:txBody>
          <a:bodyPr wrap="square" rtlCol="0" anchor="ctr"/>
          <a:lstStyle/>
          <a:p>
            <a:pPr algn="r" indent="0" marL="0">
              <a:buNone/>
            </a:pPr>
            <a:r>
              <a:rPr lang="en-US" sz="850" dirty="0">
                <a:solidFill>
                  <a:srgbClr val="94A3B8"/>
                </a:solidFill>
                <a:latin typeface="Calibri" pitchFamily="34" charset="0"/>
                <a:ea typeface="Calibri" pitchFamily="34" charset="-122"/>
                <a:cs typeface="Calibri" pitchFamily="34" charset="-120"/>
              </a:rPr>
              <a:t>11 / 12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1B3A5C"/>
          </a:solidFill>
          <a:ln/>
        </p:spPr>
      </p:sp>
      <p:sp>
        <p:nvSpPr>
          <p:cNvPr id="3" name="Shape 1"/>
          <p:cNvSpPr/>
          <p:nvPr/>
        </p:nvSpPr>
        <p:spPr>
          <a:xfrm>
            <a:off x="3840480" y="0"/>
            <a:ext cx="73152" cy="5143500"/>
          </a:xfrm>
          <a:prstGeom prst="rect">
            <a:avLst/>
          </a:prstGeom>
          <a:solidFill>
            <a:srgbClr val="2E74B5"/>
          </a:solidFill>
          <a:ln/>
        </p:spPr>
      </p:sp>
      <p:pic>
        <p:nvPicPr>
          <p:cNvPr id="4" name="Image 0" descr="preencoded.png">    </p:cNvPr>
          <p:cNvPicPr>
            <a:picLocks noChangeAspect="1"/>
          </p:cNvPicPr>
          <p:nvPr/>
        </p:nvPicPr>
        <p:blipFill>
          <a:blip r:embed="rId1"/>
          <a:stretch>
            <a:fillRect/>
          </a:stretch>
        </p:blipFill>
        <p:spPr>
          <a:xfrm>
            <a:off x="365760" y="365760"/>
            <a:ext cx="566928" cy="566928"/>
          </a:xfrm>
          <a:prstGeom prst="rect">
            <a:avLst/>
          </a:prstGeom>
        </p:spPr>
      </p:pic>
      <p:sp>
        <p:nvSpPr>
          <p:cNvPr id="5" name="Text 2"/>
          <p:cNvSpPr/>
          <p:nvPr/>
        </p:nvSpPr>
        <p:spPr>
          <a:xfrm>
            <a:off x="365760" y="347472"/>
            <a:ext cx="3291840" cy="566928"/>
          </a:xfrm>
          <a:prstGeom prst="rect">
            <a:avLst/>
          </a:prstGeom>
          <a:noFill/>
          <a:ln/>
        </p:spPr>
        <p:txBody>
          <a:bodyPr wrap="square" rtlCol="0" anchor="ctr"/>
          <a:lstStyle/>
          <a:p>
            <a:pPr algn="r" indent="0" marL="0">
              <a:buNone/>
            </a:pPr>
            <a:r>
              <a:rPr lang="en-US" sz="1000" b="1" spc="300" kern="0" dirty="0">
                <a:solidFill>
                  <a:srgbClr val="7AA8CC"/>
                </a:solidFill>
                <a:latin typeface="Calibri" pitchFamily="34" charset="0"/>
                <a:ea typeface="Calibri" pitchFamily="34" charset="-122"/>
                <a:cs typeface="Calibri" pitchFamily="34" charset="-120"/>
              </a:rPr>
              <a:t>CONCLUSION</a:t>
            </a:r>
            <a:endParaRPr lang="en-US" sz="1000" dirty="0"/>
          </a:p>
        </p:txBody>
      </p:sp>
      <p:sp>
        <p:nvSpPr>
          <p:cNvPr id="6" name="Text 3"/>
          <p:cNvSpPr/>
          <p:nvPr/>
        </p:nvSpPr>
        <p:spPr>
          <a:xfrm>
            <a:off x="320040" y="1005840"/>
            <a:ext cx="3337560" cy="201168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Merci pour</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votre</a:t>
            </a:r>
            <a:endParaRPr lang="en-US" sz="3400" dirty="0"/>
          </a:p>
          <a:p>
            <a:pPr indent="0" marL="0">
              <a:buNone/>
            </a:pPr>
            <a:r>
              <a:rPr lang="en-US" sz="3400" b="1" dirty="0">
                <a:solidFill>
                  <a:srgbClr val="FFFFFF"/>
                </a:solidFill>
                <a:latin typeface="Calibri" pitchFamily="34" charset="0"/>
                <a:ea typeface="Calibri" pitchFamily="34" charset="-122"/>
                <a:cs typeface="Calibri" pitchFamily="34" charset="-120"/>
              </a:rPr>
              <a:t>attention</a:t>
            </a:r>
            <a:endParaRPr lang="en-US" sz="3400" dirty="0"/>
          </a:p>
        </p:txBody>
      </p:sp>
      <p:sp>
        <p:nvSpPr>
          <p:cNvPr id="7" name="Shape 4"/>
          <p:cNvSpPr/>
          <p:nvPr/>
        </p:nvSpPr>
        <p:spPr>
          <a:xfrm>
            <a:off x="365760" y="3108960"/>
            <a:ext cx="2560320" cy="45720"/>
          </a:xfrm>
          <a:prstGeom prst="rect">
            <a:avLst/>
          </a:prstGeom>
          <a:solidFill>
            <a:srgbClr val="2E74B5"/>
          </a:solidFill>
          <a:ln/>
        </p:spPr>
      </p:sp>
      <p:sp>
        <p:nvSpPr>
          <p:cNvPr id="8" name="Text 5"/>
          <p:cNvSpPr/>
          <p:nvPr/>
        </p:nvSpPr>
        <p:spPr>
          <a:xfrm>
            <a:off x="347472" y="3246120"/>
            <a:ext cx="3337560" cy="475488"/>
          </a:xfrm>
          <a:prstGeom prst="rect">
            <a:avLst/>
          </a:prstGeom>
          <a:noFill/>
          <a:ln/>
        </p:spPr>
        <p:txBody>
          <a:bodyPr wrap="square" rtlCol="0" anchor="ctr"/>
          <a:lstStyle/>
          <a:p>
            <a:pPr indent="0" marL="0">
              <a:buNone/>
            </a:pPr>
            <a:r>
              <a:rPr lang="en-US" sz="1800" b="1" dirty="0">
                <a:solidFill>
                  <a:srgbClr val="4A90C4"/>
                </a:solidFill>
                <a:latin typeface="Calibri" pitchFamily="34" charset="0"/>
                <a:ea typeface="Calibri" pitchFamily="34" charset="-122"/>
                <a:cs typeface="Calibri" pitchFamily="34" charset="-120"/>
              </a:rPr>
              <a:t>Questions ?</a:t>
            </a:r>
            <a:endParaRPr lang="en-US" sz="1800" dirty="0"/>
          </a:p>
        </p:txBody>
      </p:sp>
      <p:sp>
        <p:nvSpPr>
          <p:cNvPr id="9" name="Text 6"/>
          <p:cNvSpPr/>
          <p:nvPr/>
        </p:nvSpPr>
        <p:spPr>
          <a:xfrm>
            <a:off x="4206240" y="502920"/>
            <a:ext cx="4663440" cy="411480"/>
          </a:xfrm>
          <a:prstGeom prst="rect">
            <a:avLst/>
          </a:prstGeom>
          <a:noFill/>
          <a:ln/>
        </p:spPr>
        <p:txBody>
          <a:bodyPr wrap="square" rtlCol="0" anchor="ctr"/>
          <a:lstStyle/>
          <a:p>
            <a:pPr indent="0" marL="0">
              <a:buNone/>
            </a:pPr>
            <a:r>
              <a:rPr lang="en-US" sz="1400" b="1" dirty="0">
                <a:solidFill>
                  <a:srgbClr val="1B3A5C"/>
                </a:solidFill>
                <a:latin typeface="Calibri" pitchFamily="34" charset="0"/>
                <a:ea typeface="Calibri" pitchFamily="34" charset="-122"/>
                <a:cs typeface="Calibri" pitchFamily="34" charset="-120"/>
              </a:rPr>
              <a:t>Points clés du projet</a:t>
            </a:r>
            <a:endParaRPr lang="en-US" sz="1400" dirty="0"/>
          </a:p>
        </p:txBody>
      </p:sp>
      <p:sp>
        <p:nvSpPr>
          <p:cNvPr id="10" name="Shape 7"/>
          <p:cNvSpPr/>
          <p:nvPr/>
        </p:nvSpPr>
        <p:spPr>
          <a:xfrm>
            <a:off x="4206240" y="896112"/>
            <a:ext cx="4663440" cy="36576"/>
          </a:xfrm>
          <a:prstGeom prst="rect">
            <a:avLst/>
          </a:prstGeom>
          <a:solidFill>
            <a:srgbClr val="E2E8F0"/>
          </a:solidFill>
          <a:ln/>
        </p:spPr>
      </p:sp>
      <p:sp>
        <p:nvSpPr>
          <p:cNvPr id="11" name="Shape 8"/>
          <p:cNvSpPr/>
          <p:nvPr/>
        </p:nvSpPr>
        <p:spPr>
          <a:xfrm>
            <a:off x="4206240" y="1042416"/>
            <a:ext cx="4663440" cy="512064"/>
          </a:xfrm>
          <a:prstGeom prst="rect">
            <a:avLst/>
          </a:prstGeom>
          <a:solidFill>
            <a:srgbClr val="F0F3F7"/>
          </a:solidFill>
          <a:ln/>
        </p:spPr>
      </p:sp>
      <p:sp>
        <p:nvSpPr>
          <p:cNvPr id="12" name="Shape 9"/>
          <p:cNvSpPr/>
          <p:nvPr/>
        </p:nvSpPr>
        <p:spPr>
          <a:xfrm>
            <a:off x="4206240" y="1042416"/>
            <a:ext cx="54864" cy="512064"/>
          </a:xfrm>
          <a:prstGeom prst="rect">
            <a:avLst/>
          </a:prstGeom>
          <a:solidFill>
            <a:srgbClr val="2E74B5"/>
          </a:solidFill>
          <a:ln/>
        </p:spPr>
      </p:sp>
      <p:pic>
        <p:nvPicPr>
          <p:cNvPr id="13" name="Image 1" descr="preencoded.png">    </p:cNvPr>
          <p:cNvPicPr>
            <a:picLocks noChangeAspect="1"/>
          </p:cNvPicPr>
          <p:nvPr/>
        </p:nvPicPr>
        <p:blipFill>
          <a:blip r:embed="rId2"/>
          <a:stretch>
            <a:fillRect/>
          </a:stretch>
        </p:blipFill>
        <p:spPr>
          <a:xfrm>
            <a:off x="4315968" y="1133856"/>
            <a:ext cx="310896" cy="310896"/>
          </a:xfrm>
          <a:prstGeom prst="rect">
            <a:avLst/>
          </a:prstGeom>
        </p:spPr>
      </p:pic>
      <p:sp>
        <p:nvSpPr>
          <p:cNvPr id="14" name="Text 10"/>
          <p:cNvSpPr/>
          <p:nvPr/>
        </p:nvSpPr>
        <p:spPr>
          <a:xfrm>
            <a:off x="4700016" y="1133856"/>
            <a:ext cx="4059936" cy="310896"/>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IA au cœur de chaque recommandation pédagogique</a:t>
            </a:r>
            <a:endParaRPr lang="en-US" sz="1100" dirty="0"/>
          </a:p>
        </p:txBody>
      </p:sp>
      <p:sp>
        <p:nvSpPr>
          <p:cNvPr id="15" name="Shape 11"/>
          <p:cNvSpPr/>
          <p:nvPr/>
        </p:nvSpPr>
        <p:spPr>
          <a:xfrm>
            <a:off x="4206240" y="1636776"/>
            <a:ext cx="4663440" cy="512064"/>
          </a:xfrm>
          <a:prstGeom prst="rect">
            <a:avLst/>
          </a:prstGeom>
          <a:solidFill>
            <a:srgbClr val="F0F3F7"/>
          </a:solidFill>
          <a:ln/>
        </p:spPr>
      </p:sp>
      <p:sp>
        <p:nvSpPr>
          <p:cNvPr id="16" name="Shape 12"/>
          <p:cNvSpPr/>
          <p:nvPr/>
        </p:nvSpPr>
        <p:spPr>
          <a:xfrm>
            <a:off x="4206240" y="1636776"/>
            <a:ext cx="54864" cy="512064"/>
          </a:xfrm>
          <a:prstGeom prst="rect">
            <a:avLst/>
          </a:prstGeom>
          <a:solidFill>
            <a:srgbClr val="2E74B5"/>
          </a:solidFill>
          <a:ln/>
        </p:spPr>
      </p:sp>
      <p:pic>
        <p:nvPicPr>
          <p:cNvPr id="17" name="Image 2" descr="preencoded.png">    </p:cNvPr>
          <p:cNvPicPr>
            <a:picLocks noChangeAspect="1"/>
          </p:cNvPicPr>
          <p:nvPr/>
        </p:nvPicPr>
        <p:blipFill>
          <a:blip r:embed="rId3"/>
          <a:stretch>
            <a:fillRect/>
          </a:stretch>
        </p:blipFill>
        <p:spPr>
          <a:xfrm>
            <a:off x="4315968" y="1728216"/>
            <a:ext cx="310896" cy="310896"/>
          </a:xfrm>
          <a:prstGeom prst="rect">
            <a:avLst/>
          </a:prstGeom>
        </p:spPr>
      </p:pic>
      <p:sp>
        <p:nvSpPr>
          <p:cNvPr id="18" name="Text 13"/>
          <p:cNvSpPr/>
          <p:nvPr/>
        </p:nvSpPr>
        <p:spPr>
          <a:xfrm>
            <a:off x="4700016" y="1728216"/>
            <a:ext cx="4059936" cy="310896"/>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Architecture microservices scalable et cloud-native</a:t>
            </a:r>
            <a:endParaRPr lang="en-US" sz="1100" dirty="0"/>
          </a:p>
        </p:txBody>
      </p:sp>
      <p:sp>
        <p:nvSpPr>
          <p:cNvPr id="19" name="Shape 14"/>
          <p:cNvSpPr/>
          <p:nvPr/>
        </p:nvSpPr>
        <p:spPr>
          <a:xfrm>
            <a:off x="4206240" y="2231136"/>
            <a:ext cx="4663440" cy="512064"/>
          </a:xfrm>
          <a:prstGeom prst="rect">
            <a:avLst/>
          </a:prstGeom>
          <a:solidFill>
            <a:srgbClr val="F0F3F7"/>
          </a:solidFill>
          <a:ln/>
        </p:spPr>
      </p:sp>
      <p:sp>
        <p:nvSpPr>
          <p:cNvPr id="20" name="Shape 15"/>
          <p:cNvSpPr/>
          <p:nvPr/>
        </p:nvSpPr>
        <p:spPr>
          <a:xfrm>
            <a:off x="4206240" y="2231136"/>
            <a:ext cx="54864" cy="512064"/>
          </a:xfrm>
          <a:prstGeom prst="rect">
            <a:avLst/>
          </a:prstGeom>
          <a:solidFill>
            <a:srgbClr val="2E74B5"/>
          </a:solidFill>
          <a:ln/>
        </p:spPr>
      </p:sp>
      <p:pic>
        <p:nvPicPr>
          <p:cNvPr id="21" name="Image 3" descr="preencoded.png">    </p:cNvPr>
          <p:cNvPicPr>
            <a:picLocks noChangeAspect="1"/>
          </p:cNvPicPr>
          <p:nvPr/>
        </p:nvPicPr>
        <p:blipFill>
          <a:blip r:embed="rId4"/>
          <a:stretch>
            <a:fillRect/>
          </a:stretch>
        </p:blipFill>
        <p:spPr>
          <a:xfrm>
            <a:off x="4315968" y="2322576"/>
            <a:ext cx="310896" cy="310896"/>
          </a:xfrm>
          <a:prstGeom prst="rect">
            <a:avLst/>
          </a:prstGeom>
        </p:spPr>
      </p:pic>
      <p:sp>
        <p:nvSpPr>
          <p:cNvPr id="22" name="Text 16"/>
          <p:cNvSpPr/>
          <p:nvPr/>
        </p:nvSpPr>
        <p:spPr>
          <a:xfrm>
            <a:off x="4700016" y="2322576"/>
            <a:ext cx="4059936" cy="310896"/>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Protection des données &amp; conformité RGPD assurée</a:t>
            </a:r>
            <a:endParaRPr lang="en-US" sz="1100" dirty="0"/>
          </a:p>
        </p:txBody>
      </p:sp>
      <p:sp>
        <p:nvSpPr>
          <p:cNvPr id="23" name="Shape 17"/>
          <p:cNvSpPr/>
          <p:nvPr/>
        </p:nvSpPr>
        <p:spPr>
          <a:xfrm>
            <a:off x="4206240" y="2825496"/>
            <a:ext cx="4663440" cy="512064"/>
          </a:xfrm>
          <a:prstGeom prst="rect">
            <a:avLst/>
          </a:prstGeom>
          <a:solidFill>
            <a:srgbClr val="F0F3F7"/>
          </a:solidFill>
          <a:ln/>
        </p:spPr>
      </p:sp>
      <p:sp>
        <p:nvSpPr>
          <p:cNvPr id="24" name="Shape 18"/>
          <p:cNvSpPr/>
          <p:nvPr/>
        </p:nvSpPr>
        <p:spPr>
          <a:xfrm>
            <a:off x="4206240" y="2825496"/>
            <a:ext cx="54864" cy="512064"/>
          </a:xfrm>
          <a:prstGeom prst="rect">
            <a:avLst/>
          </a:prstGeom>
          <a:solidFill>
            <a:srgbClr val="2E74B5"/>
          </a:solidFill>
          <a:ln/>
        </p:spPr>
      </p:sp>
      <p:pic>
        <p:nvPicPr>
          <p:cNvPr id="25" name="Image 4" descr="preencoded.png">    </p:cNvPr>
          <p:cNvPicPr>
            <a:picLocks noChangeAspect="1"/>
          </p:cNvPicPr>
          <p:nvPr/>
        </p:nvPicPr>
        <p:blipFill>
          <a:blip r:embed="rId5"/>
          <a:stretch>
            <a:fillRect/>
          </a:stretch>
        </p:blipFill>
        <p:spPr>
          <a:xfrm>
            <a:off x="4315968" y="2916936"/>
            <a:ext cx="310896" cy="310896"/>
          </a:xfrm>
          <a:prstGeom prst="rect">
            <a:avLst/>
          </a:prstGeom>
        </p:spPr>
      </p:pic>
      <p:sp>
        <p:nvSpPr>
          <p:cNvPr id="26" name="Text 19"/>
          <p:cNvSpPr/>
          <p:nvPr/>
        </p:nvSpPr>
        <p:spPr>
          <a:xfrm>
            <a:off x="4700016" y="2916936"/>
            <a:ext cx="4059936" cy="310896"/>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CI/CD et déploiement automatisé sur AWS / Azure</a:t>
            </a:r>
            <a:endParaRPr lang="en-US" sz="1100" dirty="0"/>
          </a:p>
        </p:txBody>
      </p:sp>
      <p:sp>
        <p:nvSpPr>
          <p:cNvPr id="27" name="Shape 20"/>
          <p:cNvSpPr/>
          <p:nvPr/>
        </p:nvSpPr>
        <p:spPr>
          <a:xfrm>
            <a:off x="4206240" y="3419856"/>
            <a:ext cx="4663440" cy="512064"/>
          </a:xfrm>
          <a:prstGeom prst="rect">
            <a:avLst/>
          </a:prstGeom>
          <a:solidFill>
            <a:srgbClr val="F0F3F7"/>
          </a:solidFill>
          <a:ln/>
        </p:spPr>
      </p:sp>
      <p:sp>
        <p:nvSpPr>
          <p:cNvPr id="28" name="Shape 21"/>
          <p:cNvSpPr/>
          <p:nvPr/>
        </p:nvSpPr>
        <p:spPr>
          <a:xfrm>
            <a:off x="4206240" y="3419856"/>
            <a:ext cx="54864" cy="512064"/>
          </a:xfrm>
          <a:prstGeom prst="rect">
            <a:avLst/>
          </a:prstGeom>
          <a:solidFill>
            <a:srgbClr val="2E74B5"/>
          </a:solidFill>
          <a:ln/>
        </p:spPr>
      </p:sp>
      <p:pic>
        <p:nvPicPr>
          <p:cNvPr id="29" name="Image 5" descr="preencoded.png">    </p:cNvPr>
          <p:cNvPicPr>
            <a:picLocks noChangeAspect="1"/>
          </p:cNvPicPr>
          <p:nvPr/>
        </p:nvPicPr>
        <p:blipFill>
          <a:blip r:embed="rId6"/>
          <a:stretch>
            <a:fillRect/>
          </a:stretch>
        </p:blipFill>
        <p:spPr>
          <a:xfrm>
            <a:off x="4315968" y="3511296"/>
            <a:ext cx="310896" cy="310896"/>
          </a:xfrm>
          <a:prstGeom prst="rect">
            <a:avLst/>
          </a:prstGeom>
        </p:spPr>
      </p:pic>
      <p:sp>
        <p:nvSpPr>
          <p:cNvPr id="30" name="Text 22"/>
          <p:cNvSpPr/>
          <p:nvPr/>
        </p:nvSpPr>
        <p:spPr>
          <a:xfrm>
            <a:off x="4700016" y="3511296"/>
            <a:ext cx="4059936" cy="310896"/>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Suivi temps réel de la progression de chaque étudiant</a:t>
            </a:r>
            <a:endParaRPr lang="en-US" sz="1100" dirty="0"/>
          </a:p>
        </p:txBody>
      </p:sp>
      <p:sp>
        <p:nvSpPr>
          <p:cNvPr id="31" name="Shape 23"/>
          <p:cNvSpPr/>
          <p:nvPr/>
        </p:nvSpPr>
        <p:spPr>
          <a:xfrm>
            <a:off x="4206240" y="4014216"/>
            <a:ext cx="4663440" cy="512064"/>
          </a:xfrm>
          <a:prstGeom prst="rect">
            <a:avLst/>
          </a:prstGeom>
          <a:solidFill>
            <a:srgbClr val="F0F3F7"/>
          </a:solidFill>
          <a:ln/>
        </p:spPr>
      </p:sp>
      <p:sp>
        <p:nvSpPr>
          <p:cNvPr id="32" name="Shape 24"/>
          <p:cNvSpPr/>
          <p:nvPr/>
        </p:nvSpPr>
        <p:spPr>
          <a:xfrm>
            <a:off x="4206240" y="4014216"/>
            <a:ext cx="54864" cy="512064"/>
          </a:xfrm>
          <a:prstGeom prst="rect">
            <a:avLst/>
          </a:prstGeom>
          <a:solidFill>
            <a:srgbClr val="2E74B5"/>
          </a:solidFill>
          <a:ln/>
        </p:spPr>
      </p:sp>
      <p:pic>
        <p:nvPicPr>
          <p:cNvPr id="33" name="Image 6" descr="preencoded.png">    </p:cNvPr>
          <p:cNvPicPr>
            <a:picLocks noChangeAspect="1"/>
          </p:cNvPicPr>
          <p:nvPr/>
        </p:nvPicPr>
        <p:blipFill>
          <a:blip r:embed="rId7"/>
          <a:stretch>
            <a:fillRect/>
          </a:stretch>
        </p:blipFill>
        <p:spPr>
          <a:xfrm>
            <a:off x="4315968" y="4105656"/>
            <a:ext cx="310896" cy="310896"/>
          </a:xfrm>
          <a:prstGeom prst="rect">
            <a:avLst/>
          </a:prstGeom>
        </p:spPr>
      </p:pic>
      <p:sp>
        <p:nvSpPr>
          <p:cNvPr id="34" name="Text 25"/>
          <p:cNvSpPr/>
          <p:nvPr/>
        </p:nvSpPr>
        <p:spPr>
          <a:xfrm>
            <a:off x="4700016" y="4105656"/>
            <a:ext cx="4059936" cy="310896"/>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PostgreSQL + MongoDB + Redis pour des performances optimales</a:t>
            </a:r>
            <a:endParaRPr lang="en-US" sz="1100" dirty="0"/>
          </a:p>
        </p:txBody>
      </p:sp>
      <p:sp>
        <p:nvSpPr>
          <p:cNvPr id="35" name="Shape 26"/>
          <p:cNvSpPr/>
          <p:nvPr/>
        </p:nvSpPr>
        <p:spPr>
          <a:xfrm>
            <a:off x="0" y="4956048"/>
            <a:ext cx="9144000" cy="187452"/>
          </a:xfrm>
          <a:prstGeom prst="rect">
            <a:avLst/>
          </a:prstGeom>
          <a:solidFill>
            <a:srgbClr val="1B3A5C"/>
          </a:solidFill>
          <a:ln/>
        </p:spPr>
      </p:sp>
      <p:sp>
        <p:nvSpPr>
          <p:cNvPr id="36" name="Text 27"/>
          <p:cNvSpPr/>
          <p:nvPr/>
        </p:nvSpPr>
        <p:spPr>
          <a:xfrm>
            <a:off x="0" y="4969764"/>
            <a:ext cx="9144000" cy="164592"/>
          </a:xfrm>
          <a:prstGeom prst="rect">
            <a:avLst/>
          </a:prstGeom>
          <a:noFill/>
          <a:ln/>
        </p:spPr>
        <p:txBody>
          <a:bodyPr wrap="square" rtlCol="0" anchor="ctr"/>
          <a:lstStyle/>
          <a:p>
            <a:pPr algn="ctr" indent="0" marL="0">
              <a:buNone/>
            </a:pPr>
            <a:r>
              <a:rPr lang="en-US" sz="850" dirty="0">
                <a:solidFill>
                  <a:srgbClr val="7AA8CC"/>
                </a:solidFill>
                <a:latin typeface="Calibri" pitchFamily="34" charset="0"/>
                <a:ea typeface="Calibri" pitchFamily="34" charset="-122"/>
                <a:cs typeface="Calibri" pitchFamily="34" charset="-120"/>
              </a:rPr>
              <a:t>Plateforme Éducative Intelligente — Architecture Microservices · Docker · Kubernetes · AWS/Azure</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Plateforme Éducative Intelligente</dc:title>
  <dc:subject>PptxGenJS Presentation</dc:subject>
  <dc:creator>PptxGenJS</dc:creator>
  <cp:lastModifiedBy>PptxGenJS</cp:lastModifiedBy>
  <cp:revision>1</cp:revision>
  <dcterms:created xsi:type="dcterms:W3CDTF">2026-03-18T00:15:21Z</dcterms:created>
  <dcterms:modified xsi:type="dcterms:W3CDTF">2026-03-18T00:15:21Z</dcterms:modified>
</cp:coreProperties>
</file>